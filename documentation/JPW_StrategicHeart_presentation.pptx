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82" r:id="rId3"/>
    <p:sldId id="283" r:id="rId4"/>
    <p:sldId id="286" r:id="rId5"/>
    <p:sldId id="296" r:id="rId6"/>
    <p:sldId id="297" r:id="rId7"/>
    <p:sldId id="285" r:id="rId8"/>
    <p:sldId id="325" r:id="rId9"/>
    <p:sldId id="331" r:id="rId10"/>
    <p:sldId id="304" r:id="rId11"/>
    <p:sldId id="301" r:id="rId12"/>
    <p:sldId id="332" r:id="rId13"/>
    <p:sldId id="329" r:id="rId14"/>
    <p:sldId id="330" r:id="rId15"/>
    <p:sldId id="288" r:id="rId16"/>
    <p:sldId id="257" r:id="rId17"/>
    <p:sldId id="290" r:id="rId18"/>
    <p:sldId id="292" r:id="rId19"/>
    <p:sldId id="307" r:id="rId20"/>
    <p:sldId id="308" r:id="rId21"/>
    <p:sldId id="310" r:id="rId22"/>
    <p:sldId id="320" r:id="rId23"/>
    <p:sldId id="321" r:id="rId24"/>
    <p:sldId id="294" r:id="rId25"/>
    <p:sldId id="314" r:id="rId26"/>
    <p:sldId id="295" r:id="rId27"/>
    <p:sldId id="311" r:id="rId28"/>
    <p:sldId id="333" r:id="rId29"/>
    <p:sldId id="31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72E"/>
    <a:srgbClr val="C79953"/>
    <a:srgbClr val="989898"/>
    <a:srgbClr val="FFE164"/>
    <a:srgbClr val="858500"/>
    <a:srgbClr val="E6F0EE"/>
    <a:srgbClr val="018571"/>
    <a:srgbClr val="43AA9A"/>
    <a:srgbClr val="FFCC00"/>
    <a:srgbClr val="FFF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B80E8-CD35-48EE-8F24-4C7713C9A633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62DD85-3DFC-4389-902F-D94FBD006A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77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2DD85-3DFC-4389-902F-D94FBD006AB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290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5804A-AA1D-9A0A-313D-2879A5877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3C47A-6762-C75F-39BF-9015DBE77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67CA0-B4CA-7042-523B-394B152BE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CC9B7-33FC-7FDE-3E97-CD52D8BA6F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2DD85-3DFC-4389-902F-D94FBD006AB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125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497C-8B01-0C24-6F07-1FDCA6FC9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BBD60-25C8-DE78-84C1-59C84BC99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73F21-D5DB-8823-5FD9-87F31A018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7B665-CFCE-ABFC-049B-DF410083D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2DD85-3DFC-4389-902F-D94FBD006AB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314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7E2A2-CA81-6B31-B623-1C57C7656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EFA84-F86A-5204-7463-CD3F6641A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13FEA-FAF2-BEC6-710E-A4C9C7732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64007-92FA-8A3D-B3D5-D16C4E96A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2DD85-3DFC-4389-902F-D94FBD006AB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258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61542-29FB-916D-7495-5CB08033F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C8439-1FB1-EB3C-61C3-4054C1448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907F2-752F-C3E6-A1F1-C3BB0AF2E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08BDD-2E81-63D4-9650-2CBDB26FD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2DD85-3DFC-4389-902F-D94FBD006AB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72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44AE5-6D91-CDDF-FDE8-0AD1B5DAD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2A3E2-F27D-51D1-FEB6-2FE3F2417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A31D9-CCD1-F312-81C1-45CBB605F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9E849-FB28-C9B4-73DB-9CEABD3CF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2DD85-3DFC-4389-902F-D94FBD006AB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817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EAECF-CB12-1C45-6FAA-7B94B4E2F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D391CE-D97C-3DDA-E010-F9DC832D2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F20F6-4940-D920-2230-F302BF119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6A205-22CD-EBBA-EAFB-647A86E95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2DD85-3DFC-4389-902F-D94FBD006AB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771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3C2C6-9A56-03E6-6803-E7808C92B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8C08B-4D47-7CC8-431C-2E7BE05F9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B96BD-4310-1E64-DC13-EE28ECDDA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61678-436B-24EC-D26A-601655D0B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2DD85-3DFC-4389-902F-D94FBD006AB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410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904E2-D992-19E7-C033-174882273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2DF7B-9D78-AA40-B537-BEC30853D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113874-5FD1-FD27-E1DC-81EC5A5BC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CD6D1-8821-6BB7-3B50-E121C64E9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2DD85-3DFC-4389-902F-D94FBD006AB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968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F7506-DC1D-8F39-3A4C-6056FB80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FEFE0-707D-86A0-013F-B3F53E889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06F8D-9A5C-3115-2397-836A68217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43F15-552B-D1C2-482D-168671939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2DD85-3DFC-4389-902F-D94FBD006AB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804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2DD85-3DFC-4389-902F-D94FBD006AB0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502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BBCC-C800-7B80-8A72-C693BA307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DBB42-07EC-1108-3224-4D07FB4CB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DBC8C-AA33-D7F1-0E1F-F4093C903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11D5-E864-4B6A-8929-8DC926611BF3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09E94-2025-4897-F5D2-BF630D4C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B2182-6D6A-C4B6-294E-C96A5A118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2F5-C08C-4938-96BD-21056CD1E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4374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DDDA-D45D-74C9-598E-7FF1FF46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756C4-E66D-AEB9-92B4-10D3329CC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7126C-335E-2FE1-B762-7E0C291A5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11D5-E864-4B6A-8929-8DC926611BF3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65FE6-7BFA-B74D-898E-21E3AA7F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8FBCA-5477-FCC3-FA42-88023210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2F5-C08C-4938-96BD-21056CD1E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37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CF55-0AC6-20DA-92F6-94B123511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FF118-D4EB-94AF-3E86-F4BA214EE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CF246-38DC-55E8-344A-66AB6C3C5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11D5-E864-4B6A-8929-8DC926611BF3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FC9D4-A270-8584-279E-67F78274B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91574-FD86-184C-8185-82DD1CD6D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2F5-C08C-4938-96BD-21056CD1E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548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E2C8-4BA8-0283-14B0-8723E87A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014CF-3703-58AD-6506-2AB1108160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330B7-D6FD-27B7-19E3-3DAE1E3FC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D7AA2-6870-C209-5195-9D822089C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11D5-E864-4B6A-8929-8DC926611BF3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6AD34-65EC-6771-769E-16A3F83AD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F5AD0-5FFB-4B61-9911-55C594D7E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2F5-C08C-4938-96BD-21056CD1E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579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C1B34-A221-ACE3-7711-670FCC2F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3F23C-BD1E-1B76-6A1E-48DF18693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F03E0-055C-1EE1-5B82-78A9A96BB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F4791D-37BE-CF5D-0CEB-6445C99F2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CA2490-C38C-68B1-16C4-E23E49844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9D08C-FFBB-C27E-8665-3CE77FAE0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11D5-E864-4B6A-8929-8DC926611BF3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58E639-E2F2-1FE7-4858-E50CE0A8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0C5C2D-96AB-0F24-600F-376730A8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2F5-C08C-4938-96BD-21056CD1E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95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872E7-A07A-9390-F8F5-B9BBDA3D0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16ABFC-F62E-39D0-3988-B3C7AD02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11D5-E864-4B6A-8929-8DC926611BF3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23DEE-61CC-E911-0F32-6A2EC890A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B5743-FE55-CC93-AD13-62A798FA1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2F5-C08C-4938-96BD-21056CD1E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41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4BBAA-018C-AF33-407A-3FE3501D9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11D5-E864-4B6A-8929-8DC926611BF3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9D45EE-7046-D930-8615-F6DD73D6D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FC2AB-5986-D8AB-A4FF-A1424D3CF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2F5-C08C-4938-96BD-21056CD1E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502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D8CFA-E7FB-6FF5-17F6-FA9952A7A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075BC-E5D3-5AD8-35DD-32A0A5BA3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935EB-EFA9-3327-20D1-1ADB210D9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7023A-1F09-BD7D-1EF5-B66D6ABA1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11D5-E864-4B6A-8929-8DC926611BF3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117C3-9636-9A75-3373-7965199C9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5FB6F-3DA9-E4DD-41D9-8223C64B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2F5-C08C-4938-96BD-21056CD1E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976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5A1B1-0B84-3A4B-8AE0-123C50CD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E3A9FD-FF53-E24A-E493-FEC2F5AD8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C21C82-33F4-B824-D29D-2306B710D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7380E-01C4-298E-BC0B-159387A9B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11D5-E864-4B6A-8929-8DC926611BF3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14B29-FCFD-DC14-51DC-7154457E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CAFBD-BF4D-9F37-EA93-E43548C25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2F5-C08C-4938-96BD-21056CD1E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047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C56DB-776E-EB86-AA83-4C0CE288F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98EA1-65E9-958C-1056-A524AFC62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A9CB6-EF03-63C9-1E1D-420FB55EA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11D5-E864-4B6A-8929-8DC926611BF3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759B6-A495-2D6A-52A3-98613F2C7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409DE-EF6D-CEC8-251F-10111E35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2F5-C08C-4938-96BD-21056CD1E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57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879438-9CEF-5E57-C43D-4B33B01757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4944A-03E5-C85E-B83D-4A3162AE9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A421A-AB80-74C9-6018-4F1FFF3DB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211D5-E864-4B6A-8929-8DC926611BF3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AA1F7-FF55-4D62-7BFC-0816D3E7E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7B308-668C-1432-B4C9-66A010101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2F5-C08C-4938-96BD-21056CD1E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121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7F664-F072-8269-0E78-0402E8136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150E6-00A3-D76C-54B3-4F20D3390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1BEB4-9AB9-DC20-2523-8286729F6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211D5-E864-4B6A-8929-8DC926611BF3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BA427-DB9A-8121-821B-0EBFFE1B4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E9E58-3F66-8482-20F6-B7A3A16CA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F22F5-C08C-4938-96BD-21056CD1E1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69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tc-tools.readthedocs.io/en/stable/index.html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70BD6-537D-13C5-39B3-B5F2435D7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accent1"/>
                </a:solidFill>
              </a:rPr>
              <a:t>GroundwatCh</a:t>
            </a:r>
            <a:r>
              <a:rPr lang="en-GB" dirty="0">
                <a:solidFill>
                  <a:schemeClr val="accent1"/>
                </a:solidFill>
              </a:rPr>
              <a:t> Internship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5EFC9-15EB-2674-036D-3071BAF240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Jack Walker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BDCCE-9C58-51B3-7E4F-CDE2AF844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880"/>
            <a:ext cx="2560542" cy="655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6D3818-D40C-53E9-6228-631610F11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424" y="93260"/>
            <a:ext cx="2667231" cy="67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10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89D48-C389-7328-135D-E81BA050D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20" y="365125"/>
            <a:ext cx="10515600" cy="1325563"/>
          </a:xfrm>
        </p:spPr>
        <p:txBody>
          <a:bodyPr/>
          <a:lstStyle/>
          <a:p>
            <a:r>
              <a:rPr lang="en-GB" dirty="0"/>
              <a:t>Internship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ECC50-72CC-47D3-B00E-33B535CD8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20" y="1551304"/>
            <a:ext cx="3825240" cy="5306696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Build an Aquifer Storage and Recovery (ASR) model to enhance </a:t>
            </a:r>
            <a:r>
              <a:rPr lang="en-GB" dirty="0" err="1"/>
              <a:t>Vitens</a:t>
            </a:r>
            <a:r>
              <a:rPr lang="en-GB" dirty="0"/>
              <a:t>’ water supply system </a:t>
            </a:r>
          </a:p>
          <a:p>
            <a:r>
              <a:rPr lang="en-GB" dirty="0" err="1"/>
              <a:t>Vitens</a:t>
            </a:r>
            <a:r>
              <a:rPr lang="en-GB" dirty="0"/>
              <a:t>’ model goals: </a:t>
            </a:r>
          </a:p>
          <a:p>
            <a:pPr lvl="1"/>
            <a:r>
              <a:rPr lang="en-GB" dirty="0"/>
              <a:t>Keep </a:t>
            </a:r>
            <a:r>
              <a:rPr lang="en-GB" u="sng" dirty="0"/>
              <a:t>treatment constant </a:t>
            </a:r>
            <a:r>
              <a:rPr lang="en-GB" dirty="0"/>
              <a:t>(</a:t>
            </a:r>
            <a:r>
              <a:rPr lang="en-GB" dirty="0" err="1"/>
              <a:t>QTreatment</a:t>
            </a:r>
            <a:r>
              <a:rPr lang="en-GB" dirty="0"/>
              <a:t>) and as low as possible</a:t>
            </a:r>
            <a:endParaRPr lang="en-GB" sz="3200" dirty="0"/>
          </a:p>
          <a:p>
            <a:pPr lvl="1"/>
            <a:r>
              <a:rPr lang="en-GB" dirty="0"/>
              <a:t>Balance ASR infiltration and extraction on a yearly basis to </a:t>
            </a:r>
            <a:r>
              <a:rPr lang="en-GB" dirty="0">
                <a:highlight>
                  <a:srgbClr val="FFFF00"/>
                </a:highlight>
              </a:rPr>
              <a:t>absorb peak demands</a:t>
            </a:r>
          </a:p>
          <a:p>
            <a:pPr marL="0" indent="0">
              <a:buNone/>
            </a:pPr>
            <a:r>
              <a:rPr lang="en-GB" dirty="0"/>
              <a:t>How to accomplish these goals?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sz="3000" b="1" dirty="0" err="1"/>
              <a:t>Deltares</a:t>
            </a:r>
            <a:r>
              <a:rPr lang="en-GB" sz="3000" b="1" dirty="0"/>
              <a:t>’ RTC-Tools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E85DE640-0A0D-B053-3F2A-C4320234963D}"/>
              </a:ext>
            </a:extLst>
          </p:cNvPr>
          <p:cNvSpPr/>
          <p:nvPr/>
        </p:nvSpPr>
        <p:spPr>
          <a:xfrm>
            <a:off x="783552" y="5791200"/>
            <a:ext cx="255982" cy="4955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295F6164-D90F-886D-6C18-E279525B1ED9}"/>
              </a:ext>
            </a:extLst>
          </p:cNvPr>
          <p:cNvSpPr/>
          <p:nvPr/>
        </p:nvSpPr>
        <p:spPr>
          <a:xfrm>
            <a:off x="1215246" y="5779893"/>
            <a:ext cx="255982" cy="4955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32FB8268-E0E6-CA61-D410-0BB8B1A4B271}"/>
              </a:ext>
            </a:extLst>
          </p:cNvPr>
          <p:cNvSpPr/>
          <p:nvPr/>
        </p:nvSpPr>
        <p:spPr>
          <a:xfrm>
            <a:off x="1601325" y="5779893"/>
            <a:ext cx="222625" cy="4955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ADF8392E-3DA9-E533-D8B3-5550BCA84A47}"/>
              </a:ext>
            </a:extLst>
          </p:cNvPr>
          <p:cNvSpPr/>
          <p:nvPr/>
        </p:nvSpPr>
        <p:spPr>
          <a:xfrm>
            <a:off x="2062528" y="5779893"/>
            <a:ext cx="218419" cy="4955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CC323CD9-390A-C48A-D10F-8494194799F3}"/>
              </a:ext>
            </a:extLst>
          </p:cNvPr>
          <p:cNvSpPr/>
          <p:nvPr/>
        </p:nvSpPr>
        <p:spPr>
          <a:xfrm>
            <a:off x="2491307" y="5775960"/>
            <a:ext cx="255982" cy="4955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A788FB56-2AA1-D0B7-B0BB-4262C7A1C0B2}"/>
              </a:ext>
            </a:extLst>
          </p:cNvPr>
          <p:cNvSpPr/>
          <p:nvPr/>
        </p:nvSpPr>
        <p:spPr>
          <a:xfrm>
            <a:off x="2871316" y="5775959"/>
            <a:ext cx="218419" cy="4994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72AAD8B-912F-5114-4082-5F997872C252}"/>
              </a:ext>
            </a:extLst>
          </p:cNvPr>
          <p:cNvSpPr txBox="1">
            <a:spLocks/>
          </p:cNvSpPr>
          <p:nvPr/>
        </p:nvSpPr>
        <p:spPr>
          <a:xfrm>
            <a:off x="6223648" y="5917465"/>
            <a:ext cx="4693272" cy="738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Strategic Heart conceptual model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/>
          </a:p>
        </p:txBody>
      </p:sp>
      <p:pic>
        <p:nvPicPr>
          <p:cNvPr id="7" name="Graphic 1">
            <a:extLst>
              <a:ext uri="{FF2B5EF4-FFF2-40B4-BE49-F238E27FC236}">
                <a16:creationId xmlns:a16="http://schemas.microsoft.com/office/drawing/2014/main" id="{F1EF8E9F-BFB7-C78C-877D-74D9D0C4D0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71753" y="1072551"/>
            <a:ext cx="8196167" cy="461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96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70BD6-537D-13C5-39B3-B5F2435D7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6600" dirty="0">
                <a:solidFill>
                  <a:schemeClr val="accent1"/>
                </a:solidFill>
              </a:rPr>
              <a:t>WHAT IS RTC-TOOLS?</a:t>
            </a:r>
          </a:p>
        </p:txBody>
      </p:sp>
    </p:spTree>
    <p:extLst>
      <p:ext uri="{BB962C8B-B14F-4D97-AF65-F5344CB8AC3E}">
        <p14:creationId xmlns:p14="http://schemas.microsoft.com/office/powerpoint/2010/main" val="537527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48B0-D236-48B2-5212-D2AC46C7A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C1599-0DFE-67ED-8503-42E54F6AD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RTC-Tools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84480F-38AC-2C78-816B-6FFB093E33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90688"/>
                <a:ext cx="10723179" cy="4867275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GB" dirty="0"/>
                  <a:t>Optimization and simulation tool built by</a:t>
                </a:r>
              </a:p>
              <a:p>
                <a:pPr lvl="1"/>
                <a:r>
                  <a:rPr lang="en-GB" dirty="0"/>
                  <a:t>Uses </a:t>
                </a:r>
                <a:r>
                  <a:rPr lang="en-GB" dirty="0" err="1"/>
                  <a:t>Modelica</a:t>
                </a:r>
                <a:r>
                  <a:rPr lang="en-GB" dirty="0"/>
                  <a:t> Connection Editor       to build hydraulic links between variables</a:t>
                </a:r>
              </a:p>
              <a:p>
                <a:pPr lvl="2"/>
                <a:r>
                  <a:rPr lang="en-GB" dirty="0"/>
                  <a:t>Example: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𝑟𝑜𝑐𝑒𝑠𝑠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𝑎𝑠𝑖𝑛</m:t>
                    </m:r>
                    <m:r>
                      <a:rPr lang="en-GB" i="1" baseline="-25000" dirty="0" smtClean="0">
                        <a:latin typeface="Cambria Math" panose="02040503050406030204" pitchFamily="18" charset="0"/>
                      </a:rPr>
                      <m:t>𝑂𝑢𝑡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 err="1" smtClean="0">
                        <a:latin typeface="Cambria Math" panose="02040503050406030204" pitchFamily="18" charset="0"/>
                      </a:rPr>
                      <m:t>𝑄𝑇𝑟𝑒𝑎𝑡𝑚𝑒𝑛𝑡𝑃𝑙𝑎𝑛𝑡</m:t>
                    </m:r>
                    <m:r>
                      <a:rPr lang="en-GB" i="1" baseline="-25000" dirty="0" err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i="1" baseline="-25000" dirty="0" err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Model equations are used as constraints/goals</a:t>
                </a:r>
              </a:p>
              <a:p>
                <a:pPr lvl="2"/>
                <a:r>
                  <a:rPr lang="en-GB" dirty="0"/>
                  <a:t>Goal types: Minimization/maximization, range, rate of change</a:t>
                </a:r>
              </a:p>
              <a:p>
                <a:pPr lvl="3"/>
                <a:r>
                  <a:rPr lang="en-GB" dirty="0"/>
                  <a:t>Ex: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dirty="0" smtClean="0">
                        <a:latin typeface="Cambria Math" panose="02040503050406030204" pitchFamily="18" charset="0"/>
                      </a:rPr>
                      <m:t>Maximize</m:t>
                    </m:r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𝑄𝑇𝑟𝑒𝑎𝑡𝑚𝑒𝑛𝑡𝑃𝑙𝑎𝑛𝑡</m:t>
                    </m:r>
                    <m:r>
                      <a:rPr lang="en-GB" i="1" baseline="-25000" dirty="0" err="1">
                        <a:latin typeface="Cambria Math" panose="02040503050406030204" pitchFamily="18" charset="0"/>
                      </a:rPr>
                      <m:t>𝐼𝑛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Goal programming </a:t>
                </a:r>
                <a:r>
                  <a:rPr lang="en-GB" u="sng" dirty="0"/>
                  <a:t>ranks goals by priority</a:t>
                </a:r>
                <a:r>
                  <a:rPr lang="en-GB" dirty="0"/>
                  <a:t>, solving sequentially by timestep</a:t>
                </a:r>
              </a:p>
              <a:p>
                <a:pPr lvl="2"/>
                <a:r>
                  <a:rPr lang="en-GB" dirty="0"/>
                  <a:t>Example: Goal with priority 2 is only solved without interrupting priority 1 goal</a:t>
                </a:r>
              </a:p>
              <a:p>
                <a:pPr lvl="1"/>
                <a:r>
                  <a:rPr lang="en-GB" dirty="0"/>
                  <a:t>Optimization uses linear model to find a </a:t>
                </a:r>
                <a:r>
                  <a:rPr lang="en-GB" b="1" dirty="0"/>
                  <a:t>globally optimal solution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84480F-38AC-2C78-816B-6FFB093E3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90688"/>
                <a:ext cx="10723179" cy="4867275"/>
              </a:xfrm>
              <a:blipFill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13242EA2-D5D0-70B0-21E0-03B53CFD7617}"/>
              </a:ext>
            </a:extLst>
          </p:cNvPr>
          <p:cNvGrpSpPr/>
          <p:nvPr/>
        </p:nvGrpSpPr>
        <p:grpSpPr>
          <a:xfrm>
            <a:off x="2360702" y="5117987"/>
            <a:ext cx="7535635" cy="1299944"/>
            <a:chOff x="2245089" y="5543920"/>
            <a:chExt cx="7249537" cy="107288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C1DE7C9-5185-5B5E-199F-FB5F34841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64343"/>
            <a:stretch>
              <a:fillRect/>
            </a:stretch>
          </p:blipFill>
          <p:spPr>
            <a:xfrm>
              <a:off x="2245089" y="5543920"/>
              <a:ext cx="7249537" cy="46196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B33468C-5A74-050E-0C76-19B252412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2846"/>
            <a:stretch>
              <a:fillRect/>
            </a:stretch>
          </p:blipFill>
          <p:spPr>
            <a:xfrm>
              <a:off x="2245089" y="6005884"/>
              <a:ext cx="7249537" cy="610919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97E8878-C806-D603-6DCA-4F1EB8B7B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419" y="1690688"/>
            <a:ext cx="1713531" cy="3859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6EBA3E-E5CA-9A38-EAF7-60D4126C2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940" y="2087129"/>
            <a:ext cx="390580" cy="38105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0F277E0-B6E9-D247-AEA3-B65609C8B127}"/>
              </a:ext>
            </a:extLst>
          </p:cNvPr>
          <p:cNvSpPr txBox="1">
            <a:spLocks/>
          </p:cNvSpPr>
          <p:nvPr/>
        </p:nvSpPr>
        <p:spPr>
          <a:xfrm>
            <a:off x="2165412" y="6545453"/>
            <a:ext cx="11713778" cy="625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GB" sz="1800" dirty="0"/>
              <a:t>Information source: RTC-Tools documentation (</a:t>
            </a:r>
            <a:r>
              <a:rPr lang="en-GB" sz="1800" dirty="0">
                <a:hlinkClick r:id="rId6"/>
              </a:rPr>
              <a:t>RTC-Tools 2.8.0 documentation</a:t>
            </a:r>
            <a:r>
              <a:rPr lang="en-GB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7055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0C09F-98EA-BF95-FA5E-9A9442006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5D8DD-04ED-2F9F-BCC0-6293F355FD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6600" dirty="0">
                <a:solidFill>
                  <a:schemeClr val="accent1"/>
                </a:solidFill>
              </a:rPr>
              <a:t>HOW DOES RTC TOOLS WORK?</a:t>
            </a:r>
          </a:p>
        </p:txBody>
      </p:sp>
    </p:spTree>
    <p:extLst>
      <p:ext uri="{BB962C8B-B14F-4D97-AF65-F5344CB8AC3E}">
        <p14:creationId xmlns:p14="http://schemas.microsoft.com/office/powerpoint/2010/main" val="2525072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F7C5-0961-22DD-B484-E3B07973E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46243"/>
            <a:ext cx="10515600" cy="1325563"/>
          </a:xfrm>
        </p:spPr>
        <p:txBody>
          <a:bodyPr/>
          <a:lstStyle/>
          <a:p>
            <a:r>
              <a:rPr lang="en-GB" dirty="0"/>
              <a:t>RTC Tools workflow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D641042-A288-C345-1389-82E162BD0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302" y="4185275"/>
            <a:ext cx="3694782" cy="267272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D52269-A415-CC2B-007C-308830939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280898"/>
              </p:ext>
            </p:extLst>
          </p:nvPr>
        </p:nvGraphicFramePr>
        <p:xfrm>
          <a:off x="4040488" y="2257176"/>
          <a:ext cx="1585376" cy="3511095"/>
        </p:xfrm>
        <a:graphic>
          <a:graphicData uri="http://schemas.openxmlformats.org/drawingml/2006/table">
            <a:tbl>
              <a:tblPr/>
              <a:tblGrid>
                <a:gridCol w="1052622">
                  <a:extLst>
                    <a:ext uri="{9D8B030D-6E8A-4147-A177-3AD203B41FA5}">
                      <a16:colId xmlns:a16="http://schemas.microsoft.com/office/drawing/2014/main" val="149535395"/>
                    </a:ext>
                  </a:extLst>
                </a:gridCol>
                <a:gridCol w="532754">
                  <a:extLst>
                    <a:ext uri="{9D8B030D-6E8A-4147-A177-3AD203B41FA5}">
                      <a16:colId xmlns:a16="http://schemas.microsoft.com/office/drawing/2014/main" val="851653006"/>
                    </a:ext>
                  </a:extLst>
                </a:gridCol>
              </a:tblGrid>
              <a:tr h="3324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state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priority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522872"/>
                  </a:ext>
                </a:extLst>
              </a:tr>
              <a:tr h="169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QDistribution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218836"/>
                  </a:ext>
                </a:extLst>
              </a:tr>
              <a:tr h="169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QTreatment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68886"/>
                  </a:ext>
                </a:extLst>
              </a:tr>
              <a:tr h="169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Qint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266062"/>
                  </a:ext>
                </a:extLst>
              </a:tr>
              <a:tr h="169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Qadd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00099"/>
                  </a:ext>
                </a:extLst>
              </a:tr>
              <a:tr h="169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ASRVolume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928971"/>
                  </a:ext>
                </a:extLst>
              </a:tr>
              <a:tr h="3324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ProcessBasinVolume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609839"/>
                  </a:ext>
                </a:extLst>
              </a:tr>
              <a:tr h="169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QASRInjection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380958"/>
                  </a:ext>
                </a:extLst>
              </a:tr>
              <a:tr h="1691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QASRExtracted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032395"/>
                  </a:ext>
                </a:extLst>
              </a:tr>
              <a:tr h="3324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QShortage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002179"/>
                  </a:ext>
                </a:extLst>
              </a:tr>
              <a:tr h="3324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QTreatment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94093"/>
                  </a:ext>
                </a:extLst>
              </a:tr>
              <a:tr h="3324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QASRThroughput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788988"/>
                  </a:ext>
                </a:extLst>
              </a:tr>
              <a:tr h="3324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Qadd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337261"/>
                  </a:ext>
                </a:extLst>
              </a:tr>
              <a:tr h="3324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Qint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787547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F19563-5757-6CA3-01EF-9105EE33F42D}"/>
              </a:ext>
            </a:extLst>
          </p:cNvPr>
          <p:cNvSpPr txBox="1">
            <a:spLocks/>
          </p:cNvSpPr>
          <p:nvPr/>
        </p:nvSpPr>
        <p:spPr>
          <a:xfrm>
            <a:off x="-174511" y="1417268"/>
            <a:ext cx="3694782" cy="553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GB" dirty="0"/>
              <a:t>1. Download RTC-Tools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029AC65-0A6E-A780-B80B-C9BD95C40CFC}"/>
              </a:ext>
            </a:extLst>
          </p:cNvPr>
          <p:cNvSpPr txBox="1">
            <a:spLocks/>
          </p:cNvSpPr>
          <p:nvPr/>
        </p:nvSpPr>
        <p:spPr>
          <a:xfrm>
            <a:off x="-298442" y="3663748"/>
            <a:ext cx="4032279" cy="7237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GB" dirty="0"/>
              <a:t>2. Build model in </a:t>
            </a:r>
            <a:r>
              <a:rPr lang="en-GB" dirty="0" err="1"/>
              <a:t>Modelica</a:t>
            </a:r>
            <a:r>
              <a:rPr lang="en-GB" dirty="0"/>
              <a:t>, save as .</a:t>
            </a:r>
            <a:r>
              <a:rPr lang="en-GB" dirty="0" err="1"/>
              <a:t>mo</a:t>
            </a:r>
            <a:r>
              <a:rPr lang="en-GB" dirty="0"/>
              <a:t> file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EDE33D-13E4-5BFF-A157-F15C30406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31" y="1868927"/>
            <a:ext cx="3261278" cy="413038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76B88A7-F93D-9F57-7786-BB6901306345}"/>
              </a:ext>
            </a:extLst>
          </p:cNvPr>
          <p:cNvSpPr txBox="1">
            <a:spLocks/>
          </p:cNvSpPr>
          <p:nvPr/>
        </p:nvSpPr>
        <p:spPr>
          <a:xfrm>
            <a:off x="3322931" y="1141230"/>
            <a:ext cx="4178607" cy="86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GB" dirty="0"/>
              <a:t>3. Construct </a:t>
            </a:r>
            <a:r>
              <a:rPr lang="en-GB" b="1" dirty="0"/>
              <a:t>goal table</a:t>
            </a:r>
            <a:r>
              <a:rPr lang="en-GB" dirty="0"/>
              <a:t> and </a:t>
            </a:r>
            <a:r>
              <a:rPr lang="en-GB" b="1" dirty="0"/>
              <a:t>input timeseries</a:t>
            </a:r>
            <a:r>
              <a:rPr lang="en-GB" dirty="0"/>
              <a:t> using variables defined in .</a:t>
            </a:r>
            <a:r>
              <a:rPr lang="en-GB" dirty="0" err="1"/>
              <a:t>mo</a:t>
            </a:r>
            <a:r>
              <a:rPr lang="en-GB" dirty="0"/>
              <a:t> file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DAE1703-F45C-FB43-5E13-291DB240B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482089"/>
              </p:ext>
            </p:extLst>
          </p:nvPr>
        </p:nvGraphicFramePr>
        <p:xfrm>
          <a:off x="5742783" y="2257176"/>
          <a:ext cx="1077123" cy="2895268"/>
        </p:xfrm>
        <a:graphic>
          <a:graphicData uri="http://schemas.openxmlformats.org/drawingml/2006/table">
            <a:tbl>
              <a:tblPr/>
              <a:tblGrid>
                <a:gridCol w="575163">
                  <a:extLst>
                    <a:ext uri="{9D8B030D-6E8A-4147-A177-3AD203B41FA5}">
                      <a16:colId xmlns:a16="http://schemas.microsoft.com/office/drawing/2014/main" val="2000253576"/>
                    </a:ext>
                  </a:extLst>
                </a:gridCol>
                <a:gridCol w="501960">
                  <a:extLst>
                    <a:ext uri="{9D8B030D-6E8A-4147-A177-3AD203B41FA5}">
                      <a16:colId xmlns:a16="http://schemas.microsoft.com/office/drawing/2014/main" val="4159111256"/>
                    </a:ext>
                  </a:extLst>
                </a:gridCol>
              </a:tblGrid>
              <a:tr h="389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Qdem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823026"/>
                  </a:ext>
                </a:extLst>
              </a:tr>
              <a:tr h="208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01/01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7839"/>
                  </a:ext>
                </a:extLst>
              </a:tr>
              <a:tr h="208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08/01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000841"/>
                  </a:ext>
                </a:extLst>
              </a:tr>
              <a:tr h="208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15/01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215387"/>
                  </a:ext>
                </a:extLst>
              </a:tr>
              <a:tr h="208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22/01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67782"/>
                  </a:ext>
                </a:extLst>
              </a:tr>
              <a:tr h="208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29/01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089944"/>
                  </a:ext>
                </a:extLst>
              </a:tr>
              <a:tr h="208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05/02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513317"/>
                  </a:ext>
                </a:extLst>
              </a:tr>
              <a:tr h="208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12/02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693489"/>
                  </a:ext>
                </a:extLst>
              </a:tr>
              <a:tr h="208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19/02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910091"/>
                  </a:ext>
                </a:extLst>
              </a:tr>
              <a:tr h="208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26/02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61341"/>
                  </a:ext>
                </a:extLst>
              </a:tr>
              <a:tr h="208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04/03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931972"/>
                  </a:ext>
                </a:extLst>
              </a:tr>
              <a:tr h="208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11/03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493975"/>
                  </a:ext>
                </a:extLst>
              </a:tr>
              <a:tr h="2088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18/03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571182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F5C168D3-E3DA-E159-E276-7B56F1E1E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9563" y="2485709"/>
            <a:ext cx="2734057" cy="6858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ED647B3-788B-B60A-9879-6A05F6D413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9563" y="2195612"/>
            <a:ext cx="4629796" cy="219106"/>
          </a:xfrm>
          <a:prstGeom prst="rect">
            <a:avLst/>
          </a:prstGeom>
        </p:spPr>
      </p:pic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FC67A6F-65AF-63F3-ED51-B4B38B6191B9}"/>
              </a:ext>
            </a:extLst>
          </p:cNvPr>
          <p:cNvSpPr txBox="1">
            <a:spLocks/>
          </p:cNvSpPr>
          <p:nvPr/>
        </p:nvSpPr>
        <p:spPr>
          <a:xfrm>
            <a:off x="7562204" y="1214446"/>
            <a:ext cx="4629796" cy="86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GB" dirty="0"/>
              <a:t>4. Run RTC-Tools using input files and </a:t>
            </a:r>
            <a:r>
              <a:rPr lang="en-GB" dirty="0" err="1"/>
              <a:t>Modelica</a:t>
            </a:r>
            <a:r>
              <a:rPr lang="en-GB" dirty="0"/>
              <a:t> model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7DAED9D-BE75-82B8-8D15-840EB730B7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078" y="2444145"/>
            <a:ext cx="1952898" cy="1057423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CE4EF67B-91A8-B5F7-0617-AD830833A653}"/>
              </a:ext>
            </a:extLst>
          </p:cNvPr>
          <p:cNvSpPr txBox="1">
            <a:spLocks/>
          </p:cNvSpPr>
          <p:nvPr/>
        </p:nvSpPr>
        <p:spPr>
          <a:xfrm>
            <a:off x="7126556" y="3324275"/>
            <a:ext cx="4803071" cy="86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GB" dirty="0"/>
              <a:t>5. Load output graphs, compare by priority and final results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751DD28-996C-EC12-EEC9-1F4E2A26B6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12"/>
          <a:stretch>
            <a:fillRect/>
          </a:stretch>
        </p:blipFill>
        <p:spPr>
          <a:xfrm>
            <a:off x="6936825" y="3996141"/>
            <a:ext cx="5182535" cy="274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63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4" grpId="0"/>
      <p:bldP spid="28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DA077-6F3F-04D1-2231-06C16B36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7BC1-E84D-2D38-0DE0-332C9D6B71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6600" dirty="0">
                <a:solidFill>
                  <a:schemeClr val="accent1"/>
                </a:solidFill>
              </a:rPr>
              <a:t>STUDY AREA</a:t>
            </a:r>
          </a:p>
        </p:txBody>
      </p:sp>
    </p:spTree>
    <p:extLst>
      <p:ext uri="{BB962C8B-B14F-4D97-AF65-F5344CB8AC3E}">
        <p14:creationId xmlns:p14="http://schemas.microsoft.com/office/powerpoint/2010/main" val="954857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5711B-0EBB-74D7-912E-1CECF7C68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5E8B60-AC3A-380C-5895-768A6CD999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4"/>
          <a:stretch>
            <a:fillRect/>
          </a:stretch>
        </p:blipFill>
        <p:spPr>
          <a:xfrm>
            <a:off x="0" y="983226"/>
            <a:ext cx="8940007" cy="5874774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3EE1484-F7E0-4B89-98E7-9CA4555E0944}"/>
              </a:ext>
            </a:extLst>
          </p:cNvPr>
          <p:cNvSpPr txBox="1">
            <a:spLocks/>
          </p:cNvSpPr>
          <p:nvPr/>
        </p:nvSpPr>
        <p:spPr>
          <a:xfrm>
            <a:off x="8847709" y="1225307"/>
            <a:ext cx="3344291" cy="56326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000" dirty="0"/>
              <a:t>Located in Gelderland (pop. 2,173,425)</a:t>
            </a:r>
          </a:p>
          <a:p>
            <a:r>
              <a:rPr lang="en-GB" sz="3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Intake from Ijssel river</a:t>
            </a:r>
          </a:p>
          <a:p>
            <a:r>
              <a:rPr lang="en-GB" sz="3000" dirty="0">
                <a:solidFill>
                  <a:schemeClr val="accent2"/>
                </a:solidFill>
              </a:rPr>
              <a:t>Two</a:t>
            </a:r>
            <a:r>
              <a:rPr lang="en-GB" sz="3000" dirty="0"/>
              <a:t> </a:t>
            </a:r>
            <a:r>
              <a:rPr lang="en-GB" sz="3000" dirty="0">
                <a:solidFill>
                  <a:schemeClr val="accent5"/>
                </a:solidFill>
              </a:rPr>
              <a:t>different</a:t>
            </a:r>
            <a:r>
              <a:rPr lang="en-GB" sz="3000" dirty="0"/>
              <a:t> ASR zones</a:t>
            </a:r>
            <a:endParaRPr lang="en-GB" sz="3000" dirty="0">
              <a:solidFill>
                <a:schemeClr val="accent5"/>
              </a:solidFill>
            </a:endParaRPr>
          </a:p>
          <a:p>
            <a:r>
              <a:rPr lang="en-GB" sz="3000" dirty="0" err="1"/>
              <a:t>Vitens</a:t>
            </a:r>
            <a:r>
              <a:rPr lang="en-GB" sz="3000" dirty="0"/>
              <a:t>’ demands: </a:t>
            </a:r>
          </a:p>
          <a:p>
            <a:pPr lvl="1"/>
            <a:r>
              <a:rPr lang="en-GB" sz="2600" dirty="0">
                <a:solidFill>
                  <a:srgbClr val="C00000"/>
                </a:solidFill>
              </a:rPr>
              <a:t>&gt; 100,000 new homes </a:t>
            </a:r>
            <a:r>
              <a:rPr lang="en-GB" sz="2600" dirty="0"/>
              <a:t>will be built in Gelderland by 2030</a:t>
            </a:r>
          </a:p>
          <a:p>
            <a:pPr lvl="1"/>
            <a:r>
              <a:rPr lang="en-GB" sz="2600" dirty="0">
                <a:solidFill>
                  <a:schemeClr val="accent6"/>
                </a:solidFill>
              </a:rPr>
              <a:t>Natura 2000 </a:t>
            </a:r>
            <a:r>
              <a:rPr lang="en-GB" sz="2600" dirty="0"/>
              <a:t>areas in the </a:t>
            </a:r>
            <a:r>
              <a:rPr lang="en-GB" sz="2600" dirty="0" err="1"/>
              <a:t>Veluwe</a:t>
            </a:r>
            <a:r>
              <a:rPr lang="en-GB" sz="2600" dirty="0"/>
              <a:t> NP complicate GW extraction</a:t>
            </a:r>
          </a:p>
          <a:p>
            <a:pPr lvl="1"/>
            <a:r>
              <a:rPr lang="en-GB" sz="2600" dirty="0"/>
              <a:t>Injection into (semi-) confined aquifers</a:t>
            </a:r>
            <a:endParaRPr lang="en-GB" sz="2200" dirty="0"/>
          </a:p>
          <a:p>
            <a:pPr marL="0" indent="0">
              <a:buNone/>
            </a:pPr>
            <a:r>
              <a:rPr lang="en-GB" sz="2200" dirty="0"/>
              <a:t>Source: (https://www.vitens.nl/over-water/projecten/gelderland)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E91AC45-3997-928A-9DF3-CC104C203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-100256"/>
            <a:ext cx="10515600" cy="1325563"/>
          </a:xfrm>
        </p:spPr>
        <p:txBody>
          <a:bodyPr/>
          <a:lstStyle/>
          <a:p>
            <a:r>
              <a:rPr lang="en-GB" dirty="0"/>
              <a:t>Strategic Heart study area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13AF6D-D726-AE9E-2CCE-F9253AD8ECB2}"/>
              </a:ext>
            </a:extLst>
          </p:cNvPr>
          <p:cNvSpPr txBox="1"/>
          <p:nvPr/>
        </p:nvSpPr>
        <p:spPr>
          <a:xfrm>
            <a:off x="7905556" y="3382700"/>
            <a:ext cx="837065" cy="36933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 err="1"/>
              <a:t>Twello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F4B2F0-26D3-FA4B-2159-FE6BDE0A3155}"/>
              </a:ext>
            </a:extLst>
          </p:cNvPr>
          <p:cNvSpPr txBox="1"/>
          <p:nvPr/>
        </p:nvSpPr>
        <p:spPr>
          <a:xfrm>
            <a:off x="5838835" y="2267672"/>
            <a:ext cx="847102" cy="36933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 err="1"/>
              <a:t>Waalre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B40DC9-2F78-12D9-41B7-9791A7D59587}"/>
              </a:ext>
            </a:extLst>
          </p:cNvPr>
          <p:cNvSpPr txBox="1"/>
          <p:nvPr/>
        </p:nvSpPr>
        <p:spPr>
          <a:xfrm rot="18888001">
            <a:off x="5290901" y="4328962"/>
            <a:ext cx="665661" cy="36933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Ijssel</a:t>
            </a:r>
          </a:p>
        </p:txBody>
      </p:sp>
      <p:sp>
        <p:nvSpPr>
          <p:cNvPr id="24" name="Action Button: Go Home 2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4C9AC8C-5B1D-8A40-4E97-23DF42DBD2AB}"/>
              </a:ext>
            </a:extLst>
          </p:cNvPr>
          <p:cNvSpPr/>
          <p:nvPr/>
        </p:nvSpPr>
        <p:spPr>
          <a:xfrm>
            <a:off x="7582731" y="5073445"/>
            <a:ext cx="365558" cy="251676"/>
          </a:xfrm>
          <a:prstGeom prst="actionButtonHom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31D292E-37B9-4272-03BD-A903E49AA49C}"/>
              </a:ext>
            </a:extLst>
          </p:cNvPr>
          <p:cNvGrpSpPr/>
          <p:nvPr/>
        </p:nvGrpSpPr>
        <p:grpSpPr>
          <a:xfrm>
            <a:off x="6174658" y="3048000"/>
            <a:ext cx="324465" cy="565666"/>
            <a:chOff x="6174658" y="3048000"/>
            <a:chExt cx="324465" cy="565666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A123443-42A4-FA66-BFFA-76C239DEAF8A}"/>
                </a:ext>
              </a:extLst>
            </p:cNvPr>
            <p:cNvSpPr/>
            <p:nvPr/>
          </p:nvSpPr>
          <p:spPr>
            <a:xfrm>
              <a:off x="6287728" y="3244334"/>
              <a:ext cx="98323" cy="369332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Cloud 24">
              <a:extLst>
                <a:ext uri="{FF2B5EF4-FFF2-40B4-BE49-F238E27FC236}">
                  <a16:creationId xmlns:a16="http://schemas.microsoft.com/office/drawing/2014/main" id="{BEA02AE5-EFF9-DFD3-DB2F-528003AAF74E}"/>
                </a:ext>
              </a:extLst>
            </p:cNvPr>
            <p:cNvSpPr/>
            <p:nvPr/>
          </p:nvSpPr>
          <p:spPr>
            <a:xfrm>
              <a:off x="6174658" y="3048000"/>
              <a:ext cx="324465" cy="255639"/>
            </a:xfrm>
            <a:prstGeom prst="cloud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9" name="Action Button: Go Home 28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228BD47-8F9F-DB27-62E9-D30FE6E31AF1}"/>
              </a:ext>
            </a:extLst>
          </p:cNvPr>
          <p:cNvSpPr/>
          <p:nvPr/>
        </p:nvSpPr>
        <p:spPr>
          <a:xfrm>
            <a:off x="7948289" y="4738037"/>
            <a:ext cx="365558" cy="251676"/>
          </a:xfrm>
          <a:prstGeom prst="actionButtonHom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Action Button: Go Home 3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49F409F-AFC1-3D2F-37FF-0D36B96DB59C}"/>
              </a:ext>
            </a:extLst>
          </p:cNvPr>
          <p:cNvSpPr/>
          <p:nvPr/>
        </p:nvSpPr>
        <p:spPr>
          <a:xfrm>
            <a:off x="7490638" y="4377264"/>
            <a:ext cx="365558" cy="251676"/>
          </a:xfrm>
          <a:prstGeom prst="actionButtonHom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A01809D-C471-019D-980A-A5C1A5B99B65}"/>
              </a:ext>
            </a:extLst>
          </p:cNvPr>
          <p:cNvGrpSpPr/>
          <p:nvPr/>
        </p:nvGrpSpPr>
        <p:grpSpPr>
          <a:xfrm>
            <a:off x="5609965" y="3290454"/>
            <a:ext cx="324465" cy="565666"/>
            <a:chOff x="6174658" y="3048000"/>
            <a:chExt cx="324465" cy="565666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042694C-348C-66C3-D909-ADA0ACA32D8F}"/>
                </a:ext>
              </a:extLst>
            </p:cNvPr>
            <p:cNvSpPr/>
            <p:nvPr/>
          </p:nvSpPr>
          <p:spPr>
            <a:xfrm>
              <a:off x="6287728" y="3244334"/>
              <a:ext cx="98323" cy="369332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Cloud 33">
              <a:extLst>
                <a:ext uri="{FF2B5EF4-FFF2-40B4-BE49-F238E27FC236}">
                  <a16:creationId xmlns:a16="http://schemas.microsoft.com/office/drawing/2014/main" id="{6ACB7CC5-F730-39BD-9B61-D6D05ADA4382}"/>
                </a:ext>
              </a:extLst>
            </p:cNvPr>
            <p:cNvSpPr/>
            <p:nvPr/>
          </p:nvSpPr>
          <p:spPr>
            <a:xfrm>
              <a:off x="6174658" y="3048000"/>
              <a:ext cx="324465" cy="255639"/>
            </a:xfrm>
            <a:prstGeom prst="cloud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62F982C-2A73-92DB-A371-7FE4DEBDDE2D}"/>
              </a:ext>
            </a:extLst>
          </p:cNvPr>
          <p:cNvGrpSpPr/>
          <p:nvPr/>
        </p:nvGrpSpPr>
        <p:grpSpPr>
          <a:xfrm>
            <a:off x="5892311" y="2753033"/>
            <a:ext cx="324465" cy="565666"/>
            <a:chOff x="6174658" y="3048000"/>
            <a:chExt cx="324465" cy="565666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F4A47D78-B12C-9B66-12FF-F22EEF35EB14}"/>
                </a:ext>
              </a:extLst>
            </p:cNvPr>
            <p:cNvSpPr/>
            <p:nvPr/>
          </p:nvSpPr>
          <p:spPr>
            <a:xfrm>
              <a:off x="6287728" y="3244334"/>
              <a:ext cx="98323" cy="369332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Cloud 36">
              <a:extLst>
                <a:ext uri="{FF2B5EF4-FFF2-40B4-BE49-F238E27FC236}">
                  <a16:creationId xmlns:a16="http://schemas.microsoft.com/office/drawing/2014/main" id="{1930957D-BC52-FA99-961C-CC69E5CF61A7}"/>
                </a:ext>
              </a:extLst>
            </p:cNvPr>
            <p:cNvSpPr/>
            <p:nvPr/>
          </p:nvSpPr>
          <p:spPr>
            <a:xfrm>
              <a:off x="6174658" y="3048000"/>
              <a:ext cx="324465" cy="255639"/>
            </a:xfrm>
            <a:prstGeom prst="cloud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9131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3" grpId="0" animBg="1"/>
      <p:bldP spid="24" grpId="0" animBg="1"/>
      <p:bldP spid="29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11B7D-A632-9E64-E058-05E4F0B33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F407D-6DFE-2257-483B-996535F217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6600" dirty="0">
                <a:solidFill>
                  <a:schemeClr val="accent1"/>
                </a:solidFill>
              </a:rPr>
              <a:t>CLAY LAYERS AND AQUIFERS</a:t>
            </a:r>
          </a:p>
        </p:txBody>
      </p:sp>
    </p:spTree>
    <p:extLst>
      <p:ext uri="{BB962C8B-B14F-4D97-AF65-F5344CB8AC3E}">
        <p14:creationId xmlns:p14="http://schemas.microsoft.com/office/powerpoint/2010/main" val="784047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4AAD5-FE2F-3DC4-1537-C7C35BAA9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9BE81-A376-236D-B7F8-64E108C2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738"/>
            <a:ext cx="4826654" cy="1604097"/>
          </a:xfrm>
        </p:spPr>
        <p:txBody>
          <a:bodyPr anchor="t">
            <a:normAutofit/>
          </a:bodyPr>
          <a:lstStyle/>
          <a:p>
            <a:r>
              <a:rPr lang="en-GB" sz="4000" b="1" dirty="0" err="1"/>
              <a:t>Waalre</a:t>
            </a:r>
            <a:r>
              <a:rPr lang="en-GB" sz="4000" b="1" dirty="0"/>
              <a:t> Formation</a:t>
            </a:r>
            <a:r>
              <a:rPr lang="en-GB" sz="4000" dirty="0"/>
              <a:t>, third clayey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A91BF-8AC6-C3DC-5289-499204CE8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3725" y="6088700"/>
            <a:ext cx="4063836" cy="7385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Source: BRO REGIS II v2.2.3 (www.dinoloket.nl)</a:t>
            </a:r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92EAD1-FDE3-E51B-3D87-8033C7E297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73" t="22893" r="25859" b="18584"/>
          <a:stretch>
            <a:fillRect/>
          </a:stretch>
        </p:blipFill>
        <p:spPr>
          <a:xfrm>
            <a:off x="5680179" y="-15226"/>
            <a:ext cx="6511821" cy="38226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F494CE-DDE7-96E5-53B2-E1BC5CA311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043" r="75635" b="24646"/>
          <a:stretch>
            <a:fillRect/>
          </a:stretch>
        </p:blipFill>
        <p:spPr>
          <a:xfrm>
            <a:off x="10165674" y="0"/>
            <a:ext cx="2026326" cy="1463389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98091348-16B2-7692-57A3-C70281429F75}"/>
              </a:ext>
            </a:extLst>
          </p:cNvPr>
          <p:cNvGrpSpPr/>
          <p:nvPr/>
        </p:nvGrpSpPr>
        <p:grpSpPr>
          <a:xfrm>
            <a:off x="3990111" y="4142510"/>
            <a:ext cx="8201889" cy="2684752"/>
            <a:chOff x="4228921" y="1804701"/>
            <a:chExt cx="7112923" cy="178976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6A39528-4671-2653-D0A2-8C61CD824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52167"/>
            <a:stretch>
              <a:fillRect/>
            </a:stretch>
          </p:blipFill>
          <p:spPr>
            <a:xfrm>
              <a:off x="4697204" y="1804701"/>
              <a:ext cx="6644640" cy="156638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7BA98FB-C681-7CA6-17A1-286D9ACC4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426" t="30832" r="95978" b="28567"/>
            <a:stretch>
              <a:fillRect/>
            </a:stretch>
          </p:blipFill>
          <p:spPr>
            <a:xfrm>
              <a:off x="4781885" y="2041543"/>
              <a:ext cx="172511" cy="132954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850211B-180D-AD3E-6B5A-0F71E25AF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93179"/>
            <a:stretch>
              <a:fillRect/>
            </a:stretch>
          </p:blipFill>
          <p:spPr>
            <a:xfrm>
              <a:off x="4228921" y="3371088"/>
              <a:ext cx="6644640" cy="223374"/>
            </a:xfrm>
            <a:prstGeom prst="rect">
              <a:avLst/>
            </a:prstGeom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79ED0941-B24D-22F8-3C39-B9C3D6C016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4823" y="4125972"/>
            <a:ext cx="1936244" cy="405851"/>
          </a:xfrm>
          <a:prstGeom prst="rect">
            <a:avLst/>
          </a:prstGeom>
        </p:spPr>
      </p:pic>
      <p:sp>
        <p:nvSpPr>
          <p:cNvPr id="36" name="Arrow: Down 35">
            <a:extLst>
              <a:ext uri="{FF2B5EF4-FFF2-40B4-BE49-F238E27FC236}">
                <a16:creationId xmlns:a16="http://schemas.microsoft.com/office/drawing/2014/main" id="{49DD9B94-B44D-F274-8AC8-5E777B7C93BC}"/>
              </a:ext>
            </a:extLst>
          </p:cNvPr>
          <p:cNvSpPr/>
          <p:nvPr/>
        </p:nvSpPr>
        <p:spPr>
          <a:xfrm rot="19873048">
            <a:off x="6574440" y="4525867"/>
            <a:ext cx="265230" cy="1249025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24ED6004-F8FA-489A-19E5-21C867F1C2FF}"/>
              </a:ext>
            </a:extLst>
          </p:cNvPr>
          <p:cNvSpPr txBox="1">
            <a:spLocks/>
          </p:cNvSpPr>
          <p:nvPr/>
        </p:nvSpPr>
        <p:spPr>
          <a:xfrm>
            <a:off x="4424" y="1821494"/>
            <a:ext cx="3926312" cy="3972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600" u="sng" dirty="0"/>
              <a:t>Deposition age</a:t>
            </a:r>
            <a:r>
              <a:rPr lang="en-GB" sz="2600" dirty="0"/>
              <a:t>: </a:t>
            </a:r>
            <a:r>
              <a:rPr lang="en-GB" sz="2600" i="1" dirty="0"/>
              <a:t>late Pliocene - early Pleistocene</a:t>
            </a:r>
          </a:p>
          <a:p>
            <a:pPr marL="0" indent="0">
              <a:buNone/>
            </a:pPr>
            <a:r>
              <a:rPr lang="en-GB" sz="2600" u="sng" dirty="0"/>
              <a:t>Lithology</a:t>
            </a:r>
            <a:r>
              <a:rPr lang="en-GB" sz="2600" dirty="0"/>
              <a:t>: </a:t>
            </a:r>
            <a:r>
              <a:rPr lang="en-GB" sz="2600" i="1" dirty="0"/>
              <a:t>fine to coarse sand, bluish grey to brownish grey clay beds</a:t>
            </a:r>
          </a:p>
          <a:p>
            <a:pPr marL="0" indent="0">
              <a:buNone/>
            </a:pPr>
            <a:r>
              <a:rPr lang="en-GB" sz="2600" u="sng" dirty="0">
                <a:highlight>
                  <a:srgbClr val="FFFF00"/>
                </a:highlight>
              </a:rPr>
              <a:t>Depth to base</a:t>
            </a:r>
            <a:r>
              <a:rPr lang="en-GB" sz="2600" dirty="0">
                <a:highlight>
                  <a:srgbClr val="FFFF00"/>
                </a:highlight>
              </a:rPr>
              <a:t>: </a:t>
            </a:r>
            <a:r>
              <a:rPr lang="en-GB" sz="2600" i="1" dirty="0">
                <a:highlight>
                  <a:srgbClr val="FFFF00"/>
                </a:highlight>
              </a:rPr>
              <a:t>90 – 140 m</a:t>
            </a:r>
          </a:p>
          <a:p>
            <a:pPr marL="0" indent="0">
              <a:buNone/>
            </a:pPr>
            <a:r>
              <a:rPr lang="en-GB" sz="2400" u="sng" dirty="0"/>
              <a:t>Average thickness</a:t>
            </a:r>
            <a:r>
              <a:rPr lang="en-GB" sz="2400" dirty="0"/>
              <a:t>: 25 m</a:t>
            </a:r>
          </a:p>
          <a:p>
            <a:pPr marL="0" indent="0">
              <a:buNone/>
            </a:pPr>
            <a:r>
              <a:rPr lang="en-GB" sz="2400" u="sng" dirty="0"/>
              <a:t>Vertical hydraulic conductivity (</a:t>
            </a:r>
            <a:r>
              <a:rPr lang="en-GB" sz="2400" u="sng" dirty="0" err="1"/>
              <a:t>k</a:t>
            </a:r>
            <a:r>
              <a:rPr lang="en-GB" sz="2400" u="sng" baseline="-25000" dirty="0" err="1"/>
              <a:t>v</a:t>
            </a:r>
            <a:r>
              <a:rPr lang="en-GB" sz="2400" u="sng" dirty="0"/>
              <a:t>)</a:t>
            </a:r>
            <a:r>
              <a:rPr lang="en-GB" sz="2400" dirty="0"/>
              <a:t>: 0.005 – 0.05 m/d</a:t>
            </a:r>
          </a:p>
          <a:p>
            <a:pPr marL="0" indent="0">
              <a:buNone/>
            </a:pPr>
            <a:endParaRPr lang="en-GB" sz="2600" i="1" dirty="0">
              <a:highlight>
                <a:srgbClr val="FFFF00"/>
              </a:highlight>
            </a:endParaRPr>
          </a:p>
          <a:p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018207-EFE5-60F0-91C0-6F60B54449A5}"/>
              </a:ext>
            </a:extLst>
          </p:cNvPr>
          <p:cNvSpPr txBox="1">
            <a:spLocks/>
          </p:cNvSpPr>
          <p:nvPr/>
        </p:nvSpPr>
        <p:spPr>
          <a:xfrm>
            <a:off x="7821067" y="4142509"/>
            <a:ext cx="3915662" cy="44274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err="1"/>
              <a:t>Waalre</a:t>
            </a:r>
            <a:r>
              <a:rPr lang="en-GB" sz="2800" b="1" dirty="0"/>
              <a:t> Formation, clay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176719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89E43-5745-6F6C-B0FB-AE8BEACF8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903E0-D9CF-1012-7E24-50D82355D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965188"/>
            <a:ext cx="3823967" cy="39479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u="sng" dirty="0"/>
              <a:t>Deposition age</a:t>
            </a:r>
            <a:r>
              <a:rPr lang="en-GB" dirty="0"/>
              <a:t>: </a:t>
            </a:r>
            <a:r>
              <a:rPr lang="en-GB" i="1" dirty="0"/>
              <a:t>Middle - Late Pleistocene</a:t>
            </a:r>
          </a:p>
          <a:p>
            <a:pPr marL="0" indent="0">
              <a:buNone/>
            </a:pPr>
            <a:r>
              <a:rPr lang="en-GB" u="sng" dirty="0"/>
              <a:t>Lithology</a:t>
            </a:r>
            <a:r>
              <a:rPr lang="en-GB" dirty="0"/>
              <a:t>: </a:t>
            </a:r>
            <a:r>
              <a:rPr lang="en-GB" i="1" dirty="0"/>
              <a:t>fine to medium sand, locally clayey</a:t>
            </a:r>
          </a:p>
          <a:p>
            <a:pPr marL="0" indent="0">
              <a:buNone/>
            </a:pPr>
            <a:r>
              <a:rPr lang="en-GB" u="sng" dirty="0">
                <a:highlight>
                  <a:srgbClr val="FFFF00"/>
                </a:highlight>
              </a:rPr>
              <a:t>Depth to base</a:t>
            </a:r>
            <a:r>
              <a:rPr lang="en-GB" dirty="0">
                <a:highlight>
                  <a:srgbClr val="FFFF00"/>
                </a:highlight>
              </a:rPr>
              <a:t>: </a:t>
            </a:r>
            <a:r>
              <a:rPr lang="en-GB" i="1" dirty="0">
                <a:highlight>
                  <a:srgbClr val="FFFF00"/>
                </a:highlight>
              </a:rPr>
              <a:t>60 – 75 m</a:t>
            </a:r>
          </a:p>
          <a:p>
            <a:pPr marL="0" indent="0">
              <a:buNone/>
            </a:pPr>
            <a:r>
              <a:rPr lang="en-GB" u="sng" dirty="0"/>
              <a:t>Average thickness</a:t>
            </a:r>
            <a:r>
              <a:rPr lang="en-GB" dirty="0"/>
              <a:t>: up to 75 m</a:t>
            </a:r>
          </a:p>
          <a:p>
            <a:pPr marL="0" indent="0">
              <a:buNone/>
            </a:pPr>
            <a:r>
              <a:rPr lang="en-GB" u="sng" dirty="0"/>
              <a:t>Vertical hydraulic conductivity (</a:t>
            </a:r>
            <a:r>
              <a:rPr lang="en-GB" u="sng" dirty="0" err="1"/>
              <a:t>k</a:t>
            </a:r>
            <a:r>
              <a:rPr lang="en-GB" u="sng" baseline="-25000" dirty="0" err="1"/>
              <a:t>v</a:t>
            </a:r>
            <a:r>
              <a:rPr lang="en-GB" u="sng" dirty="0"/>
              <a:t>)</a:t>
            </a:r>
            <a:r>
              <a:rPr lang="en-GB" dirty="0"/>
              <a:t>: 0.0005 – 0.001 m/d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2CFF46-9304-72A0-55D1-19232850012C}"/>
              </a:ext>
            </a:extLst>
          </p:cNvPr>
          <p:cNvGrpSpPr/>
          <p:nvPr/>
        </p:nvGrpSpPr>
        <p:grpSpPr>
          <a:xfrm>
            <a:off x="5708072" y="0"/>
            <a:ext cx="6483675" cy="3807435"/>
            <a:chOff x="5042263" y="0"/>
            <a:chExt cx="6579074" cy="410142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870FE5B-09C1-8292-2E3F-46177FC52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869" t="16665" r="32009" b="3959"/>
            <a:stretch>
              <a:fillRect/>
            </a:stretch>
          </p:blipFill>
          <p:spPr>
            <a:xfrm>
              <a:off x="5042263" y="18255"/>
              <a:ext cx="6446865" cy="408317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AF14ED9-EA1A-EC14-C8D1-481EB2240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81161"/>
            <a:stretch>
              <a:fillRect/>
            </a:stretch>
          </p:blipFill>
          <p:spPr>
            <a:xfrm>
              <a:off x="10119610" y="0"/>
              <a:ext cx="1501727" cy="1684280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40D29364-9A46-1530-113B-A1EA99295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0739"/>
            <a:ext cx="5480214" cy="1612362"/>
          </a:xfrm>
        </p:spPr>
        <p:txBody>
          <a:bodyPr anchor="t">
            <a:noAutofit/>
          </a:bodyPr>
          <a:lstStyle/>
          <a:p>
            <a:r>
              <a:rPr lang="en-GB" sz="4000" b="1" dirty="0" err="1"/>
              <a:t>Kreftenheye</a:t>
            </a:r>
            <a:r>
              <a:rPr lang="en-GB" sz="4000" b="1" dirty="0"/>
              <a:t> Formation, </a:t>
            </a:r>
            <a:r>
              <a:rPr lang="en-GB" sz="4000" dirty="0" err="1"/>
              <a:t>Twello</a:t>
            </a:r>
            <a:r>
              <a:rPr lang="en-GB" sz="4000" dirty="0"/>
              <a:t> Member, first clayey unit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B66E561-F1E9-8CDD-DE34-B8DE4D0F3D7D}"/>
              </a:ext>
            </a:extLst>
          </p:cNvPr>
          <p:cNvSpPr txBox="1">
            <a:spLocks/>
          </p:cNvSpPr>
          <p:nvPr/>
        </p:nvSpPr>
        <p:spPr>
          <a:xfrm>
            <a:off x="-73725" y="6088700"/>
            <a:ext cx="4063836" cy="7385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Source: BRO REGIS II v2.2.3 (www.dinoloket.nl)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08F675C-3102-EA49-159B-7FCB5494154A}"/>
              </a:ext>
            </a:extLst>
          </p:cNvPr>
          <p:cNvGrpSpPr/>
          <p:nvPr/>
        </p:nvGrpSpPr>
        <p:grpSpPr>
          <a:xfrm>
            <a:off x="3990111" y="4142510"/>
            <a:ext cx="8201889" cy="2684752"/>
            <a:chOff x="4228921" y="1804701"/>
            <a:chExt cx="7112923" cy="178976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7A53A59-2B5F-6542-4D06-30D5A3B32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52167"/>
            <a:stretch>
              <a:fillRect/>
            </a:stretch>
          </p:blipFill>
          <p:spPr>
            <a:xfrm>
              <a:off x="4697204" y="1804701"/>
              <a:ext cx="6644640" cy="156638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8BFBEA3-5327-F02C-BF95-103924100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426" t="30832" r="95978" b="28567"/>
            <a:stretch>
              <a:fillRect/>
            </a:stretch>
          </p:blipFill>
          <p:spPr>
            <a:xfrm>
              <a:off x="4781885" y="2041543"/>
              <a:ext cx="172511" cy="132954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B52D630-D3B9-5A06-0986-915BD5573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93179"/>
            <a:stretch>
              <a:fillRect/>
            </a:stretch>
          </p:blipFill>
          <p:spPr>
            <a:xfrm>
              <a:off x="4228921" y="3371088"/>
              <a:ext cx="6644640" cy="223374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B26620B3-01B8-3C86-D8E4-F9918CBF12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5456" y="4079944"/>
            <a:ext cx="1884219" cy="348681"/>
          </a:xfrm>
          <a:prstGeom prst="rect">
            <a:avLst/>
          </a:prstGeom>
        </p:spPr>
      </p:pic>
      <p:sp>
        <p:nvSpPr>
          <p:cNvPr id="20" name="Arrow: Down 19">
            <a:extLst>
              <a:ext uri="{FF2B5EF4-FFF2-40B4-BE49-F238E27FC236}">
                <a16:creationId xmlns:a16="http://schemas.microsoft.com/office/drawing/2014/main" id="{412CF03A-E2AC-7D02-6EDF-3EA2A24A8EC0}"/>
              </a:ext>
            </a:extLst>
          </p:cNvPr>
          <p:cNvSpPr/>
          <p:nvPr/>
        </p:nvSpPr>
        <p:spPr>
          <a:xfrm rot="19543883">
            <a:off x="9581589" y="4403465"/>
            <a:ext cx="239537" cy="1066847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48DEDA-9B53-3D2E-574D-92B833DCE888}"/>
              </a:ext>
            </a:extLst>
          </p:cNvPr>
          <p:cNvSpPr txBox="1">
            <a:spLocks/>
          </p:cNvSpPr>
          <p:nvPr/>
        </p:nvSpPr>
        <p:spPr>
          <a:xfrm>
            <a:off x="6414193" y="4079944"/>
            <a:ext cx="2887830" cy="44274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err="1"/>
              <a:t>Twello</a:t>
            </a:r>
            <a:r>
              <a:rPr lang="en-GB" sz="2800" b="1" dirty="0"/>
              <a:t> Member</a:t>
            </a:r>
            <a:endParaRPr lang="en-GB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DC8924C-49D2-F27C-7859-BF2DD6E4B2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2546" y="243840"/>
            <a:ext cx="1420319" cy="30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1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12EA1-B3CB-B297-C368-45A0C88FD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6EDFC-823C-0D31-E094-385E9622FF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6600" dirty="0">
                <a:solidFill>
                  <a:schemeClr val="accent1"/>
                </a:solidFill>
              </a:rPr>
              <a:t>AQUIFERS</a:t>
            </a:r>
          </a:p>
        </p:txBody>
      </p:sp>
    </p:spTree>
    <p:extLst>
      <p:ext uri="{BB962C8B-B14F-4D97-AF65-F5344CB8AC3E}">
        <p14:creationId xmlns:p14="http://schemas.microsoft.com/office/powerpoint/2010/main" val="1203947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9BD13-759C-D0A5-FD0B-821A6C442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8909-8F1D-6EEF-2396-5526914B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738"/>
            <a:ext cx="4826654" cy="1604097"/>
          </a:xfrm>
        </p:spPr>
        <p:txBody>
          <a:bodyPr anchor="t">
            <a:normAutofit fontScale="90000"/>
          </a:bodyPr>
          <a:lstStyle/>
          <a:p>
            <a:r>
              <a:rPr lang="en-GB" sz="4000" b="1" dirty="0" err="1"/>
              <a:t>Maasluis</a:t>
            </a:r>
            <a:r>
              <a:rPr lang="en-GB" sz="4000" b="1" dirty="0"/>
              <a:t> Formation</a:t>
            </a:r>
            <a:br>
              <a:rPr lang="en-GB" sz="4000" b="1" dirty="0"/>
            </a:br>
            <a:r>
              <a:rPr lang="en-GB" sz="4000" dirty="0"/>
              <a:t>Principal aquifer underlying </a:t>
            </a:r>
            <a:r>
              <a:rPr lang="en-GB" sz="4000" dirty="0" err="1"/>
              <a:t>Waalre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7DF8B-96D3-908B-6055-7F225AD46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3725" y="6088700"/>
            <a:ext cx="4063836" cy="7385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Source: BRO REGIS II v2.2.3 (www.dinoloket.nl)</a:t>
            </a:r>
          </a:p>
          <a:p>
            <a:pPr marL="0" indent="0">
              <a:buNone/>
            </a:pP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771D5B4-28D0-6EB3-BD5E-2B482A6690CB}"/>
              </a:ext>
            </a:extLst>
          </p:cNvPr>
          <p:cNvGrpSpPr/>
          <p:nvPr/>
        </p:nvGrpSpPr>
        <p:grpSpPr>
          <a:xfrm>
            <a:off x="3990111" y="4142510"/>
            <a:ext cx="8201889" cy="2684752"/>
            <a:chOff x="4228921" y="1804701"/>
            <a:chExt cx="7112923" cy="178976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1D1CEBC-2B69-86E2-24E8-A146D38E8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2167"/>
            <a:stretch>
              <a:fillRect/>
            </a:stretch>
          </p:blipFill>
          <p:spPr>
            <a:xfrm>
              <a:off x="4697204" y="1804701"/>
              <a:ext cx="6644640" cy="156638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1D98460E-C74C-BE94-F63F-AB1F92D6E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426" t="30832" r="95978" b="28567"/>
            <a:stretch>
              <a:fillRect/>
            </a:stretch>
          </p:blipFill>
          <p:spPr>
            <a:xfrm>
              <a:off x="4781885" y="2041543"/>
              <a:ext cx="172511" cy="132954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2BFB793-4169-284B-777B-4FB9EB80F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3179"/>
            <a:stretch>
              <a:fillRect/>
            </a:stretch>
          </p:blipFill>
          <p:spPr>
            <a:xfrm>
              <a:off x="4228921" y="3371088"/>
              <a:ext cx="6644640" cy="223374"/>
            </a:xfrm>
            <a:prstGeom prst="rect">
              <a:avLst/>
            </a:prstGeom>
          </p:spPr>
        </p:pic>
      </p:grpSp>
      <p:sp>
        <p:nvSpPr>
          <p:cNvPr id="36" name="Arrow: Down 35">
            <a:extLst>
              <a:ext uri="{FF2B5EF4-FFF2-40B4-BE49-F238E27FC236}">
                <a16:creationId xmlns:a16="http://schemas.microsoft.com/office/drawing/2014/main" id="{45D73B44-4767-4011-37F7-18E9D45840E5}"/>
              </a:ext>
            </a:extLst>
          </p:cNvPr>
          <p:cNvSpPr/>
          <p:nvPr/>
        </p:nvSpPr>
        <p:spPr>
          <a:xfrm rot="1850150">
            <a:off x="7112579" y="4504968"/>
            <a:ext cx="238679" cy="1613136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EC6CB920-5D7A-07E4-7E4C-0E40ABEF0D4E}"/>
              </a:ext>
            </a:extLst>
          </p:cNvPr>
          <p:cNvSpPr txBox="1">
            <a:spLocks/>
          </p:cNvSpPr>
          <p:nvPr/>
        </p:nvSpPr>
        <p:spPr>
          <a:xfrm>
            <a:off x="0" y="2092494"/>
            <a:ext cx="3926312" cy="3972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600" u="sng" dirty="0"/>
              <a:t>Age</a:t>
            </a:r>
            <a:r>
              <a:rPr lang="en-GB" sz="2600" dirty="0"/>
              <a:t>: </a:t>
            </a:r>
            <a:r>
              <a:rPr lang="en-GB" sz="2600" i="1" dirty="0"/>
              <a:t>early Pleistocene</a:t>
            </a:r>
          </a:p>
          <a:p>
            <a:pPr marL="0" indent="0">
              <a:buNone/>
            </a:pPr>
            <a:r>
              <a:rPr lang="en-GB" sz="2600" u="sng" dirty="0"/>
              <a:t>Lithology</a:t>
            </a:r>
            <a:r>
              <a:rPr lang="en-GB" sz="2600" dirty="0"/>
              <a:t>: </a:t>
            </a:r>
            <a:r>
              <a:rPr lang="en-GB" sz="2600" i="1" dirty="0"/>
              <a:t>grey very fine to fine sand, micaceous and calcareous</a:t>
            </a:r>
          </a:p>
          <a:p>
            <a:pPr marL="0" indent="0">
              <a:buNone/>
            </a:pPr>
            <a:r>
              <a:rPr lang="en-GB" sz="2600" u="sng" dirty="0"/>
              <a:t>Average thickness</a:t>
            </a:r>
            <a:r>
              <a:rPr lang="en-GB" sz="2600" i="1" dirty="0"/>
              <a:t>: 25 m</a:t>
            </a:r>
          </a:p>
          <a:p>
            <a:pPr marL="0" indent="0">
              <a:buNone/>
            </a:pPr>
            <a:r>
              <a:rPr lang="en-GB" sz="2600" u="sng" dirty="0"/>
              <a:t>Transmissivity (T)</a:t>
            </a:r>
            <a:r>
              <a:rPr lang="en-GB" sz="2600" i="1" dirty="0"/>
              <a:t>: </a:t>
            </a:r>
          </a:p>
          <a:p>
            <a:pPr marL="0" indent="0">
              <a:buNone/>
            </a:pPr>
            <a:r>
              <a:rPr lang="en-GB" dirty="0"/>
              <a:t>50 - 100 </a:t>
            </a:r>
            <a:r>
              <a:rPr lang="en-GB" sz="2600" dirty="0"/>
              <a:t>m</a:t>
            </a:r>
            <a:r>
              <a:rPr lang="en-GB" sz="2600" baseline="30000" dirty="0"/>
              <a:t>2</a:t>
            </a:r>
            <a:r>
              <a:rPr lang="en-GB" sz="2600" dirty="0"/>
              <a:t>/d</a:t>
            </a:r>
            <a:endParaRPr lang="en-GB" sz="26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F45E8-37A2-2DD8-5D1F-9BD9C9936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901" y="4006165"/>
            <a:ext cx="1900332" cy="384109"/>
          </a:xfrm>
          <a:prstGeom prst="rect">
            <a:avLst/>
          </a:prstGeom>
          <a:ln>
            <a:noFill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66AACF7-65A4-B2D5-27F5-C1E4FCEFFDE6}"/>
              </a:ext>
            </a:extLst>
          </p:cNvPr>
          <p:cNvSpPr txBox="1">
            <a:spLocks/>
          </p:cNvSpPr>
          <p:nvPr/>
        </p:nvSpPr>
        <p:spPr>
          <a:xfrm>
            <a:off x="8771233" y="3943778"/>
            <a:ext cx="3269226" cy="68445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err="1"/>
              <a:t>Maasluis</a:t>
            </a:r>
            <a:r>
              <a:rPr lang="en-GB" sz="2800" b="1" dirty="0"/>
              <a:t> Formation</a:t>
            </a:r>
            <a:endParaRPr lang="en-GB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E33696-56C4-EC04-E234-FF890ADA7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286" y="312809"/>
            <a:ext cx="3627173" cy="30679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F3DEEF-3A05-46F3-23CD-8ABA5D9A4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168" y="2389239"/>
            <a:ext cx="2101596" cy="9885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AD5233D-7178-3E7B-24D5-60DE99F81D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6128" y="312811"/>
            <a:ext cx="3497157" cy="300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72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0615-C716-AFD7-4984-29686EA97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E693D-4E5E-2414-B993-56DF17894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738"/>
            <a:ext cx="5260258" cy="1604097"/>
          </a:xfrm>
        </p:spPr>
        <p:txBody>
          <a:bodyPr anchor="t">
            <a:normAutofit fontScale="90000"/>
          </a:bodyPr>
          <a:lstStyle/>
          <a:p>
            <a:r>
              <a:rPr lang="en-GB" b="1" dirty="0"/>
              <a:t>Oosterhout Formation</a:t>
            </a:r>
            <a:br>
              <a:rPr lang="en-GB" sz="4000" b="1" dirty="0"/>
            </a:br>
            <a:r>
              <a:rPr lang="en-GB" sz="4000" dirty="0"/>
              <a:t>Principal aquifer underlying </a:t>
            </a:r>
            <a:r>
              <a:rPr lang="en-GB" sz="4000" dirty="0" err="1"/>
              <a:t>Twello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16798-5B17-8EF0-19E9-5FC051E7A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3725" y="6088700"/>
            <a:ext cx="4063836" cy="7385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/>
              <a:t>Source: BRO REGIS II v2.2.3 (www.dinoloket.nl)</a:t>
            </a:r>
          </a:p>
          <a:p>
            <a:pPr marL="0" indent="0">
              <a:buNone/>
            </a:pP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734642D-0725-3BF2-FBF3-78FF4BA0B070}"/>
              </a:ext>
            </a:extLst>
          </p:cNvPr>
          <p:cNvGrpSpPr/>
          <p:nvPr/>
        </p:nvGrpSpPr>
        <p:grpSpPr>
          <a:xfrm>
            <a:off x="3990111" y="4142510"/>
            <a:ext cx="8201889" cy="2684752"/>
            <a:chOff x="4228921" y="1804701"/>
            <a:chExt cx="7112923" cy="178976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6E8566C-4253-C734-4E12-4C5C8082E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2167"/>
            <a:stretch>
              <a:fillRect/>
            </a:stretch>
          </p:blipFill>
          <p:spPr>
            <a:xfrm>
              <a:off x="4697204" y="1804701"/>
              <a:ext cx="6644640" cy="156638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9EFF9F2-F7D0-D30D-2987-05F89D335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426" t="30832" r="95978" b="28567"/>
            <a:stretch>
              <a:fillRect/>
            </a:stretch>
          </p:blipFill>
          <p:spPr>
            <a:xfrm>
              <a:off x="4781885" y="2041543"/>
              <a:ext cx="172511" cy="132954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F5CD759-1580-EFB3-D0A0-9B9648378C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3179"/>
            <a:stretch>
              <a:fillRect/>
            </a:stretch>
          </p:blipFill>
          <p:spPr>
            <a:xfrm>
              <a:off x="4228921" y="3371088"/>
              <a:ext cx="6644640" cy="223374"/>
            </a:xfrm>
            <a:prstGeom prst="rect">
              <a:avLst/>
            </a:prstGeom>
          </p:spPr>
        </p:pic>
      </p:grpSp>
      <p:sp>
        <p:nvSpPr>
          <p:cNvPr id="36" name="Arrow: Down 35">
            <a:extLst>
              <a:ext uri="{FF2B5EF4-FFF2-40B4-BE49-F238E27FC236}">
                <a16:creationId xmlns:a16="http://schemas.microsoft.com/office/drawing/2014/main" id="{EC8544B1-1406-CEBF-F0C9-59B73CC2A8A8}"/>
              </a:ext>
            </a:extLst>
          </p:cNvPr>
          <p:cNvSpPr/>
          <p:nvPr/>
        </p:nvSpPr>
        <p:spPr>
          <a:xfrm rot="18996302">
            <a:off x="8177449" y="4222212"/>
            <a:ext cx="220368" cy="2040771"/>
          </a:xfrm>
          <a:prstGeom prst="downArrow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82FE565D-93FB-0028-2260-D8CC13BD9E47}"/>
              </a:ext>
            </a:extLst>
          </p:cNvPr>
          <p:cNvSpPr txBox="1">
            <a:spLocks/>
          </p:cNvSpPr>
          <p:nvPr/>
        </p:nvSpPr>
        <p:spPr>
          <a:xfrm>
            <a:off x="4423" y="1821494"/>
            <a:ext cx="4154621" cy="3972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600" u="sng" dirty="0"/>
              <a:t>Age</a:t>
            </a:r>
            <a:r>
              <a:rPr lang="en-GB" sz="2600" dirty="0"/>
              <a:t>: </a:t>
            </a:r>
            <a:r>
              <a:rPr lang="en-GB" sz="2600" i="1" dirty="0"/>
              <a:t>late Miocene to Pliocene</a:t>
            </a:r>
          </a:p>
          <a:p>
            <a:pPr marL="0" indent="0">
              <a:buNone/>
            </a:pPr>
            <a:r>
              <a:rPr lang="en-GB" sz="2600" u="sng" dirty="0"/>
              <a:t>Lithology</a:t>
            </a:r>
            <a:r>
              <a:rPr lang="en-GB" sz="2600" dirty="0"/>
              <a:t>: </a:t>
            </a:r>
            <a:r>
              <a:rPr lang="en-GB" i="1" dirty="0"/>
              <a:t>Light grey to greyish green very fine to medium sand</a:t>
            </a:r>
          </a:p>
          <a:p>
            <a:pPr marL="0" indent="0">
              <a:buNone/>
            </a:pPr>
            <a:r>
              <a:rPr lang="en-GB" u="sng" dirty="0"/>
              <a:t>Average thickness</a:t>
            </a:r>
            <a:r>
              <a:rPr lang="en-GB" i="1" dirty="0"/>
              <a:t>: 90 m</a:t>
            </a:r>
          </a:p>
          <a:p>
            <a:pPr marL="0" indent="0">
              <a:buNone/>
            </a:pPr>
            <a:r>
              <a:rPr lang="en-GB" sz="2600" u="sng" dirty="0"/>
              <a:t>Transmissivity</a:t>
            </a:r>
            <a:r>
              <a:rPr lang="en-GB" sz="2600" dirty="0"/>
              <a:t>: </a:t>
            </a:r>
            <a:r>
              <a:rPr lang="en-GB" sz="2600" i="1" dirty="0"/>
              <a:t>250 - 500</a:t>
            </a:r>
            <a:r>
              <a:rPr lang="en-GB" i="1" dirty="0"/>
              <a:t> </a:t>
            </a:r>
            <a:r>
              <a:rPr lang="en-GB" sz="2600" i="1" dirty="0"/>
              <a:t>m</a:t>
            </a:r>
            <a:r>
              <a:rPr lang="en-GB" sz="2600" i="1" baseline="30000" dirty="0"/>
              <a:t>2</a:t>
            </a:r>
            <a:r>
              <a:rPr lang="en-GB" sz="2600" i="1" dirty="0"/>
              <a:t>/d</a:t>
            </a:r>
          </a:p>
          <a:p>
            <a:pPr marL="0" indent="0">
              <a:buNone/>
            </a:pPr>
            <a:r>
              <a:rPr lang="en-GB" sz="2600" i="1" dirty="0">
                <a:solidFill>
                  <a:schemeClr val="accent6"/>
                </a:solidFill>
              </a:rPr>
              <a:t>Stronger candidate for injection</a:t>
            </a:r>
          </a:p>
          <a:p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3BC6133-EBD9-2F01-217F-C7A0B5026A8E}"/>
              </a:ext>
            </a:extLst>
          </p:cNvPr>
          <p:cNvSpPr txBox="1">
            <a:spLocks/>
          </p:cNvSpPr>
          <p:nvPr/>
        </p:nvSpPr>
        <p:spPr>
          <a:xfrm>
            <a:off x="8514735" y="4034398"/>
            <a:ext cx="3269226" cy="50624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/>
              <a:t>Oosterhout Formation</a:t>
            </a:r>
            <a:endParaRPr lang="en-GB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8ED9C-5781-8905-8F99-DBFC67267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582" y="4027453"/>
            <a:ext cx="2117153" cy="345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98D672-5FBC-3E4E-D6BD-E902BD09F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9387" y="116351"/>
            <a:ext cx="3938184" cy="34923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5DCD47-FF10-7103-2DA9-5B4FCA5C93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9387" y="2487576"/>
            <a:ext cx="1524213" cy="11907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8AE444-0F01-90CE-E132-850D3B0748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2985" y="142522"/>
            <a:ext cx="1965564" cy="319061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A7EB6797-A3FB-06B5-ADEF-B36A354FA176}"/>
              </a:ext>
            </a:extLst>
          </p:cNvPr>
          <p:cNvSpPr txBox="1">
            <a:spLocks/>
          </p:cNvSpPr>
          <p:nvPr/>
        </p:nvSpPr>
        <p:spPr>
          <a:xfrm>
            <a:off x="6178419" y="3333135"/>
            <a:ext cx="3269226" cy="68445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dirty="0"/>
              <a:t>(photo by André </a:t>
            </a:r>
            <a:r>
              <a:rPr lang="en-GB" sz="1600" dirty="0" err="1"/>
              <a:t>Slupik</a:t>
            </a:r>
            <a:r>
              <a:rPr lang="en-GB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17043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DD532-3520-6EDF-B10D-2A194565D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550A-B7F1-0818-D6E8-2AD165754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6600" dirty="0">
                <a:solidFill>
                  <a:schemeClr val="accent1"/>
                </a:solidFill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536771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AE7DD-1030-04FB-A31C-E236DF454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Modelica</a:t>
            </a:r>
            <a:r>
              <a:rPr lang="en-GB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BED61-C73F-0A97-CE2D-F5D9F2B73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3" y="1690688"/>
            <a:ext cx="4397420" cy="4351338"/>
          </a:xfrm>
        </p:spPr>
        <p:txBody>
          <a:bodyPr>
            <a:normAutofit fontScale="92500"/>
          </a:bodyPr>
          <a:lstStyle/>
          <a:p>
            <a:r>
              <a:rPr lang="en-GB" dirty="0"/>
              <a:t>Model built in </a:t>
            </a:r>
            <a:r>
              <a:rPr lang="en-GB" i="1" dirty="0" err="1"/>
              <a:t>OMEdit</a:t>
            </a:r>
            <a:r>
              <a:rPr lang="en-GB" dirty="0"/>
              <a:t> to create hydraulic/volumetric  connections between nodes</a:t>
            </a:r>
          </a:p>
          <a:p>
            <a:r>
              <a:rPr lang="en-GB" dirty="0"/>
              <a:t>Water input from </a:t>
            </a:r>
            <a:r>
              <a:rPr lang="en-GB" b="1" dirty="0" err="1"/>
              <a:t>Qint</a:t>
            </a:r>
            <a:r>
              <a:rPr lang="en-GB" dirty="0"/>
              <a:t> and </a:t>
            </a:r>
            <a:r>
              <a:rPr lang="en-GB" b="1" dirty="0" err="1"/>
              <a:t>Qadd</a:t>
            </a:r>
            <a:r>
              <a:rPr lang="en-GB" dirty="0"/>
              <a:t>, flows to process basin</a:t>
            </a:r>
          </a:p>
          <a:p>
            <a:r>
              <a:rPr lang="en-GB" dirty="0"/>
              <a:t>Treated water can either go to </a:t>
            </a:r>
            <a:r>
              <a:rPr lang="en-GB" b="1" dirty="0" err="1"/>
              <a:t>ASRwell</a:t>
            </a:r>
            <a:r>
              <a:rPr lang="en-GB" dirty="0"/>
              <a:t> or straight to </a:t>
            </a:r>
            <a:r>
              <a:rPr lang="en-GB" b="1" dirty="0"/>
              <a:t>distribution network</a:t>
            </a:r>
          </a:p>
          <a:p>
            <a:pPr lvl="1"/>
            <a:r>
              <a:rPr lang="en-GB" dirty="0"/>
              <a:t>Treatment plant has 20% losses</a:t>
            </a:r>
          </a:p>
          <a:p>
            <a:r>
              <a:rPr lang="en-GB" dirty="0" err="1"/>
              <a:t>ASRwell</a:t>
            </a:r>
            <a:r>
              <a:rPr lang="en-GB" dirty="0"/>
              <a:t> acts as storage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987A49-9D87-81BF-38F4-B3C54BB116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17163" y="1228725"/>
            <a:ext cx="7781925" cy="562927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B257A99-6DB2-BC98-7F0D-8792E60FEE5E}"/>
              </a:ext>
            </a:extLst>
          </p:cNvPr>
          <p:cNvGrpSpPr/>
          <p:nvPr/>
        </p:nvGrpSpPr>
        <p:grpSpPr>
          <a:xfrm>
            <a:off x="8914583" y="190365"/>
            <a:ext cx="457263" cy="1500323"/>
            <a:chOff x="8849011" y="500035"/>
            <a:chExt cx="457263" cy="150032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6B9ED3D-BD4F-4378-5219-817147ACF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9011" y="500035"/>
              <a:ext cx="447737" cy="50489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BF804F8-CB24-76A7-5B9B-EEC39CCC3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25221" y="943327"/>
              <a:ext cx="371527" cy="27626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8C2DDE9-6190-110A-B318-EB6FE0929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15695" y="1210653"/>
              <a:ext cx="381053" cy="37152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C807FE0-E756-F389-4186-E0A6C6143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25221" y="1600252"/>
              <a:ext cx="381053" cy="400106"/>
            </a:xfrm>
            <a:prstGeom prst="rect">
              <a:avLst/>
            </a:prstGeom>
          </p:spPr>
        </p:pic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2180D42-2D59-377F-457E-E0B931EE8C07}"/>
              </a:ext>
            </a:extLst>
          </p:cNvPr>
          <p:cNvSpPr txBox="1">
            <a:spLocks/>
          </p:cNvSpPr>
          <p:nvPr/>
        </p:nvSpPr>
        <p:spPr>
          <a:xfrm>
            <a:off x="9371847" y="210051"/>
            <a:ext cx="2251194" cy="42360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Boundary inflow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AC642BB-23B4-D4C8-171F-FF4FDD894948}"/>
              </a:ext>
            </a:extLst>
          </p:cNvPr>
          <p:cNvSpPr txBox="1">
            <a:spLocks/>
          </p:cNvSpPr>
          <p:nvPr/>
        </p:nvSpPr>
        <p:spPr>
          <a:xfrm>
            <a:off x="9371846" y="596614"/>
            <a:ext cx="2455027" cy="42360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Boundary outflow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FC01B2E-7493-560D-F002-34139FDA69BE}"/>
              </a:ext>
            </a:extLst>
          </p:cNvPr>
          <p:cNvSpPr txBox="1">
            <a:spLocks/>
          </p:cNvSpPr>
          <p:nvPr/>
        </p:nvSpPr>
        <p:spPr>
          <a:xfrm>
            <a:off x="9382640" y="983177"/>
            <a:ext cx="2455027" cy="42360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Connecting node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1398329-E01A-A03A-A81A-114D41E27F4C}"/>
              </a:ext>
            </a:extLst>
          </p:cNvPr>
          <p:cNvSpPr txBox="1">
            <a:spLocks/>
          </p:cNvSpPr>
          <p:nvPr/>
        </p:nvSpPr>
        <p:spPr>
          <a:xfrm>
            <a:off x="9402960" y="1310919"/>
            <a:ext cx="2455027" cy="423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Storage node</a:t>
            </a:r>
          </a:p>
        </p:txBody>
      </p:sp>
    </p:spTree>
    <p:extLst>
      <p:ext uri="{BB962C8B-B14F-4D97-AF65-F5344CB8AC3E}">
        <p14:creationId xmlns:p14="http://schemas.microsoft.com/office/powerpoint/2010/main" val="1188808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D724-F1B1-19FB-C466-4A79171B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BDBDD-C5E2-83FA-F9F1-03FA9A62D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Goal table structure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73E7FB-41DF-A7C7-046E-BE3C77BBF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320290"/>
              </p:ext>
            </p:extLst>
          </p:nvPr>
        </p:nvGraphicFramePr>
        <p:xfrm>
          <a:off x="5750560" y="1838960"/>
          <a:ext cx="4297680" cy="4511038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149535395"/>
                    </a:ext>
                  </a:extLst>
                </a:gridCol>
                <a:gridCol w="1849120">
                  <a:extLst>
                    <a:ext uri="{9D8B030D-6E8A-4147-A177-3AD203B41FA5}">
                      <a16:colId xmlns:a16="http://schemas.microsoft.com/office/drawing/2014/main" val="851653006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57098943"/>
                    </a:ext>
                  </a:extLst>
                </a:gridCol>
              </a:tblGrid>
              <a:tr h="3222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state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goal_type</a:t>
                      </a:r>
                      <a:endParaRPr lang="en-GB" sz="14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priority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522872"/>
                  </a:ext>
                </a:extLst>
              </a:tr>
              <a:tr h="3222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QDistribution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range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218836"/>
                  </a:ext>
                </a:extLst>
              </a:tr>
              <a:tr h="3222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QTreatment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range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68886"/>
                  </a:ext>
                </a:extLst>
              </a:tr>
              <a:tr h="3222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Qint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range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266062"/>
                  </a:ext>
                </a:extLst>
              </a:tr>
              <a:tr h="3222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Qadd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range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00099"/>
                  </a:ext>
                </a:extLst>
              </a:tr>
              <a:tr h="3222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ASRVolume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range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928971"/>
                  </a:ext>
                </a:extLst>
              </a:tr>
              <a:tr h="3222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ProcessBasinVolume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range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609839"/>
                  </a:ext>
                </a:extLst>
              </a:tr>
              <a:tr h="3222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QASRInjection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range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380958"/>
                  </a:ext>
                </a:extLst>
              </a:tr>
              <a:tr h="3222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QASRExtracted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range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032395"/>
                  </a:ext>
                </a:extLst>
              </a:tr>
              <a:tr h="3222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QShortage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minimization_path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002179"/>
                  </a:ext>
                </a:extLst>
              </a:tr>
              <a:tr h="3222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QTreatment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range_rate_of_change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94093"/>
                  </a:ext>
                </a:extLst>
              </a:tr>
              <a:tr h="3222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QASRThroughput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minimization_path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788988"/>
                  </a:ext>
                </a:extLst>
              </a:tr>
              <a:tr h="3222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Qadd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minimization_path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337261"/>
                  </a:ext>
                </a:extLst>
              </a:tr>
              <a:tr h="3222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Qint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range_rate_of_change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787547"/>
                  </a:ext>
                </a:extLst>
              </a:tr>
            </a:tbl>
          </a:graphicData>
        </a:graphic>
      </p:graphicFrame>
      <p:sp>
        <p:nvSpPr>
          <p:cNvPr id="10" name="Right Bracket 9">
            <a:extLst>
              <a:ext uri="{FF2B5EF4-FFF2-40B4-BE49-F238E27FC236}">
                <a16:creationId xmlns:a16="http://schemas.microsoft.com/office/drawing/2014/main" id="{5ED25B1F-963C-4576-5FB7-092AC219DEE7}"/>
              </a:ext>
            </a:extLst>
          </p:cNvPr>
          <p:cNvSpPr/>
          <p:nvPr/>
        </p:nvSpPr>
        <p:spPr>
          <a:xfrm>
            <a:off x="10236200" y="2164080"/>
            <a:ext cx="259080" cy="251968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D3FD-E8BC-4BF7-323D-B0B7D8C0D140}"/>
              </a:ext>
            </a:extLst>
          </p:cNvPr>
          <p:cNvSpPr txBox="1"/>
          <p:nvPr/>
        </p:nvSpPr>
        <p:spPr>
          <a:xfrm>
            <a:off x="10668000" y="2722880"/>
            <a:ext cx="1341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Structural system constraints</a:t>
            </a:r>
          </a:p>
        </p:txBody>
      </p:sp>
      <p:sp>
        <p:nvSpPr>
          <p:cNvPr id="13" name="Right Bracket 12">
            <a:extLst>
              <a:ext uri="{FF2B5EF4-FFF2-40B4-BE49-F238E27FC236}">
                <a16:creationId xmlns:a16="http://schemas.microsoft.com/office/drawing/2014/main" id="{CECADDD0-65D1-8B75-4DBD-3AE4FB06877C}"/>
              </a:ext>
            </a:extLst>
          </p:cNvPr>
          <p:cNvSpPr/>
          <p:nvPr/>
        </p:nvSpPr>
        <p:spPr>
          <a:xfrm>
            <a:off x="10236200" y="4795520"/>
            <a:ext cx="259080" cy="1554478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C04FF6-EE5F-907B-9415-D77EF93A1E52}"/>
              </a:ext>
            </a:extLst>
          </p:cNvPr>
          <p:cNvSpPr txBox="1"/>
          <p:nvPr/>
        </p:nvSpPr>
        <p:spPr>
          <a:xfrm>
            <a:off x="10683240" y="5019040"/>
            <a:ext cx="1341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Distribution network goals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9D0E260-E77B-2E0B-47D3-CC5D3BAF3CA8}"/>
              </a:ext>
            </a:extLst>
          </p:cNvPr>
          <p:cNvSpPr/>
          <p:nvPr/>
        </p:nvSpPr>
        <p:spPr>
          <a:xfrm>
            <a:off x="5750559" y="2160873"/>
            <a:ext cx="1767841" cy="2583647"/>
          </a:xfrm>
          <a:prstGeom prst="roundRect">
            <a:avLst>
              <a:gd name="adj" fmla="val 8693"/>
            </a:avLst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488CEEE-7DFC-1AE9-C11C-98EE6F377F19}"/>
              </a:ext>
            </a:extLst>
          </p:cNvPr>
          <p:cNvSpPr/>
          <p:nvPr/>
        </p:nvSpPr>
        <p:spPr>
          <a:xfrm>
            <a:off x="5750560" y="5391663"/>
            <a:ext cx="1767840" cy="293428"/>
          </a:xfrm>
          <a:prstGeom prst="roundRect">
            <a:avLst>
              <a:gd name="adj" fmla="val 33408"/>
            </a:avLst>
          </a:prstGeom>
          <a:noFill/>
          <a:ln w="28575">
            <a:solidFill>
              <a:schemeClr val="accent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C62F5F-1598-3153-3EE4-BDC20BD08186}"/>
              </a:ext>
            </a:extLst>
          </p:cNvPr>
          <p:cNvSpPr txBox="1"/>
          <p:nvPr/>
        </p:nvSpPr>
        <p:spPr>
          <a:xfrm>
            <a:off x="352592" y="5131093"/>
            <a:ext cx="47286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chemeClr val="accent6"/>
                </a:solidFill>
              </a:rPr>
              <a:t>Minimize </a:t>
            </a:r>
            <a:r>
              <a:rPr lang="en-GB" sz="2200" dirty="0" err="1">
                <a:solidFill>
                  <a:schemeClr val="accent6"/>
                </a:solidFill>
              </a:rPr>
              <a:t>QASRInjection</a:t>
            </a:r>
            <a:r>
              <a:rPr lang="en-GB" sz="2200" dirty="0">
                <a:solidFill>
                  <a:schemeClr val="accent6"/>
                </a:solidFill>
              </a:rPr>
              <a:t> + </a:t>
            </a:r>
            <a:r>
              <a:rPr lang="en-GB" sz="2200" dirty="0" err="1">
                <a:solidFill>
                  <a:schemeClr val="accent6"/>
                </a:solidFill>
              </a:rPr>
              <a:t>QASRExtracted</a:t>
            </a:r>
            <a:r>
              <a:rPr lang="en-GB" sz="2200" dirty="0">
                <a:solidFill>
                  <a:schemeClr val="accent6"/>
                </a:solidFill>
              </a:rPr>
              <a:t>: </a:t>
            </a:r>
          </a:p>
          <a:p>
            <a:r>
              <a:rPr lang="en-GB" sz="2200" b="1" dirty="0">
                <a:solidFill>
                  <a:schemeClr val="accent6"/>
                </a:solidFill>
              </a:rPr>
              <a:t>no unnecessary injection/abstraction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794B4F-3C5E-6FFA-DE56-46FBABE3E53E}"/>
              </a:ext>
            </a:extLst>
          </p:cNvPr>
          <p:cNvSpPr/>
          <p:nvPr/>
        </p:nvSpPr>
        <p:spPr>
          <a:xfrm>
            <a:off x="5750560" y="5068722"/>
            <a:ext cx="1767840" cy="308184"/>
          </a:xfrm>
          <a:prstGeom prst="roundRect">
            <a:avLst>
              <a:gd name="adj" fmla="val 40156"/>
            </a:avLst>
          </a:prstGeom>
          <a:noFill/>
          <a:ln w="28575">
            <a:solidFill>
              <a:schemeClr val="accent5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5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E76A2D-F3AD-648B-26E1-525E5FFB6DDC}"/>
              </a:ext>
            </a:extLst>
          </p:cNvPr>
          <p:cNvSpPr/>
          <p:nvPr/>
        </p:nvSpPr>
        <p:spPr>
          <a:xfrm>
            <a:off x="5750560" y="6027420"/>
            <a:ext cx="1767840" cy="322577"/>
          </a:xfrm>
          <a:prstGeom prst="roundRect">
            <a:avLst>
              <a:gd name="adj" fmla="val 31822"/>
            </a:avLst>
          </a:prstGeom>
          <a:noFill/>
          <a:ln w="28575">
            <a:solidFill>
              <a:schemeClr val="accent5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5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923ECB-8E94-F49F-2DF9-7CABC9F2D209}"/>
              </a:ext>
            </a:extLst>
          </p:cNvPr>
          <p:cNvSpPr txBox="1"/>
          <p:nvPr/>
        </p:nvSpPr>
        <p:spPr>
          <a:xfrm>
            <a:off x="352592" y="4310222"/>
            <a:ext cx="4979671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accent5"/>
                </a:solidFill>
              </a:rPr>
              <a:t>Penalize high rate of change</a:t>
            </a:r>
            <a:r>
              <a:rPr lang="en-GB" sz="2200" dirty="0">
                <a:solidFill>
                  <a:schemeClr val="accent5"/>
                </a:solidFill>
              </a:rPr>
              <a:t> between timesteps for </a:t>
            </a:r>
            <a:r>
              <a:rPr lang="en-GB" sz="2200" dirty="0" err="1">
                <a:solidFill>
                  <a:schemeClr val="accent5"/>
                </a:solidFill>
              </a:rPr>
              <a:t>Qtreatment</a:t>
            </a:r>
            <a:r>
              <a:rPr lang="en-GB" sz="2200" dirty="0">
                <a:solidFill>
                  <a:schemeClr val="accent5"/>
                </a:solidFill>
              </a:rPr>
              <a:t> and </a:t>
            </a:r>
            <a:r>
              <a:rPr lang="en-GB" sz="2200" dirty="0" err="1">
                <a:solidFill>
                  <a:schemeClr val="accent5"/>
                </a:solidFill>
              </a:rPr>
              <a:t>Qint</a:t>
            </a:r>
            <a:endParaRPr lang="en-GB" sz="2200" dirty="0">
              <a:solidFill>
                <a:schemeClr val="accent5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1D8A13-95FF-9D7F-A4F3-C78C0F7B854A}"/>
              </a:ext>
            </a:extLst>
          </p:cNvPr>
          <p:cNvSpPr txBox="1"/>
          <p:nvPr/>
        </p:nvSpPr>
        <p:spPr>
          <a:xfrm>
            <a:off x="352593" y="2017681"/>
            <a:ext cx="48469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Physical volumes</a:t>
            </a:r>
            <a:r>
              <a:rPr lang="en-GB" sz="2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injection and extraction maximums, treatment capacity, and distribution ≤ demand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5BAF1A0-950F-140E-FBA9-DAD38D8ED622}"/>
              </a:ext>
            </a:extLst>
          </p:cNvPr>
          <p:cNvSpPr/>
          <p:nvPr/>
        </p:nvSpPr>
        <p:spPr>
          <a:xfrm>
            <a:off x="5750558" y="4752529"/>
            <a:ext cx="1767840" cy="308184"/>
          </a:xfrm>
          <a:prstGeom prst="roundRect">
            <a:avLst>
              <a:gd name="adj" fmla="val 41392"/>
            </a:avLst>
          </a:prstGeom>
          <a:noFill/>
          <a:ln w="28575">
            <a:solidFill>
              <a:schemeClr val="accent2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D9D439-D908-3B37-424E-D50DC980DA5F}"/>
              </a:ext>
            </a:extLst>
          </p:cNvPr>
          <p:cNvSpPr txBox="1"/>
          <p:nvPr/>
        </p:nvSpPr>
        <p:spPr>
          <a:xfrm>
            <a:off x="352593" y="3151825"/>
            <a:ext cx="49796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solidFill>
                  <a:schemeClr val="accent2">
                    <a:lumMod val="75000"/>
                  </a:schemeClr>
                </a:solidFill>
              </a:rPr>
              <a:t>Minimize (Qdemand – </a:t>
            </a:r>
            <a:r>
              <a:rPr lang="en-GB" sz="2200" dirty="0" err="1">
                <a:solidFill>
                  <a:schemeClr val="accent2">
                    <a:lumMod val="75000"/>
                  </a:schemeClr>
                </a:solidFill>
              </a:rPr>
              <a:t>Qdistribution</a:t>
            </a:r>
            <a:r>
              <a:rPr lang="en-GB" sz="2200" dirty="0">
                <a:solidFill>
                  <a:schemeClr val="accent2">
                    <a:lumMod val="75000"/>
                  </a:schemeClr>
                </a:solidFill>
              </a:rPr>
              <a:t>):</a:t>
            </a:r>
          </a:p>
          <a:p>
            <a:r>
              <a:rPr lang="en-GB" sz="2200" b="1" dirty="0">
                <a:solidFill>
                  <a:schemeClr val="accent2">
                    <a:lumMod val="75000"/>
                  </a:schemeClr>
                </a:solidFill>
              </a:rPr>
              <a:t>Try to meet demand</a:t>
            </a:r>
            <a:r>
              <a:rPr lang="en-GB" sz="2200" dirty="0">
                <a:solidFill>
                  <a:schemeClr val="accent2">
                    <a:lumMod val="75000"/>
                  </a:schemeClr>
                </a:solidFill>
              </a:rPr>
              <a:t>. Highest priority non-structural goal</a:t>
            </a:r>
          </a:p>
        </p:txBody>
      </p:sp>
    </p:spTree>
    <p:extLst>
      <p:ext uri="{BB962C8B-B14F-4D97-AF65-F5344CB8AC3E}">
        <p14:creationId xmlns:p14="http://schemas.microsoft.com/office/powerpoint/2010/main" val="345341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0" grpId="0"/>
      <p:bldP spid="4" grpId="0" animBg="1"/>
      <p:bldP spid="7" grpId="0" animBg="1"/>
      <p:bldP spid="9" grpId="0"/>
      <p:bldP spid="14" grpId="0"/>
      <p:bldP spid="19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57157-B8CE-9B3C-9834-2570248A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9FF6-77FC-D1B6-C83E-3985ECF61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729072"/>
            <a:ext cx="9144000" cy="2387600"/>
          </a:xfrm>
        </p:spPr>
        <p:txBody>
          <a:bodyPr>
            <a:normAutofit/>
          </a:bodyPr>
          <a:lstStyle/>
          <a:p>
            <a:r>
              <a:rPr lang="en-GB" sz="6600" dirty="0">
                <a:solidFill>
                  <a:schemeClr val="accent1"/>
                </a:solidFill>
              </a:rPr>
              <a:t>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B1A652-E642-A194-E919-908352391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214" y="3608118"/>
            <a:ext cx="7933571" cy="2208489"/>
          </a:xfrm>
          <a:prstGeom prst="rect">
            <a:avLst/>
          </a:prstGeom>
        </p:spPr>
      </p:pic>
      <p:sp>
        <p:nvSpPr>
          <p:cNvPr id="9" name="Arrow: Bent 8">
            <a:extLst>
              <a:ext uri="{FF2B5EF4-FFF2-40B4-BE49-F238E27FC236}">
                <a16:creationId xmlns:a16="http://schemas.microsoft.com/office/drawing/2014/main" id="{AF449A66-2A08-754D-4619-8FE69B11278F}"/>
              </a:ext>
            </a:extLst>
          </p:cNvPr>
          <p:cNvSpPr/>
          <p:nvPr/>
        </p:nvSpPr>
        <p:spPr>
          <a:xfrm rot="10800000" flipH="1">
            <a:off x="3805085" y="5914762"/>
            <a:ext cx="2290915" cy="673813"/>
          </a:xfrm>
          <a:prstGeom prst="ben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E21650-FF1B-6F2F-E422-0A2F00411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005" y="6191026"/>
            <a:ext cx="4441575" cy="397549"/>
          </a:xfrm>
          <a:prstGeom prst="rect">
            <a:avLst/>
          </a:prstGeom>
        </p:spPr>
      </p:pic>
      <p:sp>
        <p:nvSpPr>
          <p:cNvPr id="6" name="Smiley Face 5">
            <a:extLst>
              <a:ext uri="{FF2B5EF4-FFF2-40B4-BE49-F238E27FC236}">
                <a16:creationId xmlns:a16="http://schemas.microsoft.com/office/drawing/2014/main" id="{90E2E963-14D1-A259-17F1-3B77A66553D6}"/>
              </a:ext>
            </a:extLst>
          </p:cNvPr>
          <p:cNvSpPr/>
          <p:nvPr/>
        </p:nvSpPr>
        <p:spPr>
          <a:xfrm>
            <a:off x="11266205" y="6052893"/>
            <a:ext cx="746760" cy="673814"/>
          </a:xfrm>
          <a:prstGeom prst="smileyFace">
            <a:avLst/>
          </a:prstGeom>
          <a:solidFill>
            <a:srgbClr val="FFFB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203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A6909-4E83-75DC-13FA-566D2B6A5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dirty="0"/>
              <a:t>Available results for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D5F33C-6A98-76C5-ADEB-2D083F3321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26"/>
          <a:stretch>
            <a:fillRect/>
          </a:stretch>
        </p:blipFill>
        <p:spPr>
          <a:xfrm>
            <a:off x="3377714" y="2484119"/>
            <a:ext cx="8814286" cy="437388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B8D2D9-43A8-D5F7-BCBE-D6BF7D2B4307}"/>
              </a:ext>
            </a:extLst>
          </p:cNvPr>
          <p:cNvSpPr txBox="1">
            <a:spLocks/>
          </p:cNvSpPr>
          <p:nvPr/>
        </p:nvSpPr>
        <p:spPr>
          <a:xfrm>
            <a:off x="119742" y="1325563"/>
            <a:ext cx="3528026" cy="27079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600" b="1" dirty="0"/>
              <a:t>Reliability statistics</a:t>
            </a:r>
          </a:p>
          <a:p>
            <a:r>
              <a:rPr lang="en-GB" sz="2600" dirty="0"/>
              <a:t>Total ASR water supplied</a:t>
            </a:r>
          </a:p>
          <a:p>
            <a:r>
              <a:rPr lang="en-GB" sz="2600" dirty="0"/>
              <a:t>Volumetric reliability and % of weeks with shortage</a:t>
            </a:r>
          </a:p>
          <a:p>
            <a:r>
              <a:rPr lang="en-GB" sz="2600" dirty="0"/>
              <a:t>People supported by ASR water</a:t>
            </a:r>
          </a:p>
          <a:p>
            <a:endParaRPr lang="en-GB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983080-4118-54C5-F65A-427B54AAC19D}"/>
              </a:ext>
            </a:extLst>
          </p:cNvPr>
          <p:cNvSpPr txBox="1"/>
          <p:nvPr/>
        </p:nvSpPr>
        <p:spPr>
          <a:xfrm>
            <a:off x="134377" y="3942226"/>
            <a:ext cx="322870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Storage volumes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Treatment flow and rate of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ASR flows and river intake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Demand satisfaction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66FECE-6547-3680-ECBC-AD01FF3CD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522" y="0"/>
            <a:ext cx="4871114" cy="267954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98E407-724F-22F8-DE95-9B51B3128A15}"/>
              </a:ext>
            </a:extLst>
          </p:cNvPr>
          <p:cNvSpPr/>
          <p:nvPr/>
        </p:nvSpPr>
        <p:spPr>
          <a:xfrm>
            <a:off x="9855757" y="340262"/>
            <a:ext cx="1066800" cy="24106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F3FC1EB-B767-BA25-B974-E790EEF195CB}"/>
              </a:ext>
            </a:extLst>
          </p:cNvPr>
          <p:cNvSpPr/>
          <p:nvPr/>
        </p:nvSpPr>
        <p:spPr>
          <a:xfrm>
            <a:off x="9771078" y="960120"/>
            <a:ext cx="978201" cy="2025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661E253-7AC3-6C44-8B4B-CE8A55A903E8}"/>
              </a:ext>
            </a:extLst>
          </p:cNvPr>
          <p:cNvSpPr/>
          <p:nvPr/>
        </p:nvSpPr>
        <p:spPr>
          <a:xfrm>
            <a:off x="10922557" y="1154802"/>
            <a:ext cx="978201" cy="2025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AE93E51-EC5A-0A84-7F47-B7F80807429D}"/>
              </a:ext>
            </a:extLst>
          </p:cNvPr>
          <p:cNvSpPr/>
          <p:nvPr/>
        </p:nvSpPr>
        <p:spPr>
          <a:xfrm>
            <a:off x="5421408" y="2647028"/>
            <a:ext cx="978201" cy="2025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4DE3506-68DA-1A7E-6350-24A075AC8B86}"/>
              </a:ext>
            </a:extLst>
          </p:cNvPr>
          <p:cNvSpPr/>
          <p:nvPr/>
        </p:nvSpPr>
        <p:spPr>
          <a:xfrm>
            <a:off x="5421407" y="4033520"/>
            <a:ext cx="978201" cy="2025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52885C-6868-73E9-DF76-00896570B7A9}"/>
              </a:ext>
            </a:extLst>
          </p:cNvPr>
          <p:cNvSpPr/>
          <p:nvPr/>
        </p:nvSpPr>
        <p:spPr>
          <a:xfrm>
            <a:off x="5276273" y="5420012"/>
            <a:ext cx="1262179" cy="2025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5F28F1-CEAA-0EDB-C45A-23A3E9B7AA34}"/>
              </a:ext>
            </a:extLst>
          </p:cNvPr>
          <p:cNvSpPr/>
          <p:nvPr/>
        </p:nvSpPr>
        <p:spPr>
          <a:xfrm>
            <a:off x="9657580" y="4033520"/>
            <a:ext cx="1091699" cy="2025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BCBF5B0-422D-AFC9-A8AE-53946F05D284}"/>
              </a:ext>
            </a:extLst>
          </p:cNvPr>
          <p:cNvSpPr/>
          <p:nvPr/>
        </p:nvSpPr>
        <p:spPr>
          <a:xfrm>
            <a:off x="9423901" y="2693461"/>
            <a:ext cx="1411247" cy="1561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CBF0EC3-91C1-A32B-2005-7841FB19EB2A}"/>
              </a:ext>
            </a:extLst>
          </p:cNvPr>
          <p:cNvSpPr/>
          <p:nvPr/>
        </p:nvSpPr>
        <p:spPr>
          <a:xfrm>
            <a:off x="9657579" y="5420012"/>
            <a:ext cx="1091699" cy="2025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6F4178D-2ABD-830F-1495-8DDFD30A4459}"/>
              </a:ext>
            </a:extLst>
          </p:cNvPr>
          <p:cNvSpPr/>
          <p:nvPr/>
        </p:nvSpPr>
        <p:spPr>
          <a:xfrm>
            <a:off x="11094057" y="2083951"/>
            <a:ext cx="978201" cy="2025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86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A28DD-F137-CA77-68BE-F3B42A0DF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DDF7-EC72-963A-A8BA-F13F1BBC3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39" y="-5449"/>
            <a:ext cx="10515600" cy="1325563"/>
          </a:xfrm>
        </p:spPr>
        <p:txBody>
          <a:bodyPr/>
          <a:lstStyle/>
          <a:p>
            <a:r>
              <a:rPr lang="en-GB" dirty="0"/>
              <a:t>Results #1: 10 yr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90405-5EB2-4644-05AB-44DE4EDE3976}"/>
              </a:ext>
            </a:extLst>
          </p:cNvPr>
          <p:cNvSpPr txBox="1">
            <a:spLocks/>
          </p:cNvSpPr>
          <p:nvPr/>
        </p:nvSpPr>
        <p:spPr>
          <a:xfrm>
            <a:off x="152554" y="2109685"/>
            <a:ext cx="1805574" cy="3464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baseline="-250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554F9D-1B10-DCFE-7A4D-8D61C807D5E5}"/>
              </a:ext>
            </a:extLst>
          </p:cNvPr>
          <p:cNvSpPr txBox="1">
            <a:spLocks/>
          </p:cNvSpPr>
          <p:nvPr/>
        </p:nvSpPr>
        <p:spPr>
          <a:xfrm>
            <a:off x="110613" y="2245216"/>
            <a:ext cx="2751276" cy="4460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EB7AF5-5A61-6FA1-5AE6-8E4C42597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" t="4750" r="33165" b="33000"/>
          <a:stretch>
            <a:fillRect/>
          </a:stretch>
        </p:blipFill>
        <p:spPr>
          <a:xfrm>
            <a:off x="203472" y="3059017"/>
            <a:ext cx="11835973" cy="3798983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DAB9445-087F-3463-3039-16914666F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603225"/>
              </p:ext>
            </p:extLst>
          </p:nvPr>
        </p:nvGraphicFramePr>
        <p:xfrm>
          <a:off x="366415" y="1083945"/>
          <a:ext cx="591021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5108">
                  <a:extLst>
                    <a:ext uri="{9D8B030D-6E8A-4147-A177-3AD203B41FA5}">
                      <a16:colId xmlns:a16="http://schemas.microsoft.com/office/drawing/2014/main" val="623181184"/>
                    </a:ext>
                  </a:extLst>
                </a:gridCol>
                <a:gridCol w="2955108">
                  <a:extLst>
                    <a:ext uri="{9D8B030D-6E8A-4147-A177-3AD203B41FA5}">
                      <a16:colId xmlns:a16="http://schemas.microsoft.com/office/drawing/2014/main" val="1420237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QASRInjectionMax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QASRExtractionMax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8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0.00 m3/s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 m3/s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193711"/>
                  </a:ext>
                </a:extLst>
              </a:tr>
            </a:tbl>
          </a:graphicData>
        </a:graphic>
      </p:graphicFrame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C81D751-A11B-8895-682F-DE48BC13099E}"/>
              </a:ext>
            </a:extLst>
          </p:cNvPr>
          <p:cNvSpPr txBox="1">
            <a:spLocks/>
          </p:cNvSpPr>
          <p:nvPr/>
        </p:nvSpPr>
        <p:spPr>
          <a:xfrm>
            <a:off x="918104" y="1854601"/>
            <a:ext cx="5436976" cy="99556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 ASR water supplied</a:t>
            </a:r>
          </a:p>
          <a:p>
            <a:r>
              <a:rPr lang="en-GB" dirty="0"/>
              <a:t>47% of weeks with shortage</a:t>
            </a:r>
          </a:p>
          <a:p>
            <a:r>
              <a:rPr lang="en-GB" dirty="0"/>
              <a:t>96.25% volumetric reliability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9A663B-27DD-AB09-07D4-D991707E1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958" y="582330"/>
            <a:ext cx="5401429" cy="201005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75E051-C611-9FE4-4906-0491AA4864B9}"/>
              </a:ext>
            </a:extLst>
          </p:cNvPr>
          <p:cNvSpPr/>
          <p:nvPr/>
        </p:nvSpPr>
        <p:spPr>
          <a:xfrm>
            <a:off x="9480618" y="963412"/>
            <a:ext cx="1066800" cy="24106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923EF3-B7DF-F936-055A-3EB29B31A4D1}"/>
              </a:ext>
            </a:extLst>
          </p:cNvPr>
          <p:cNvSpPr/>
          <p:nvPr/>
        </p:nvSpPr>
        <p:spPr>
          <a:xfrm>
            <a:off x="9272517" y="2231852"/>
            <a:ext cx="1066800" cy="24106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A328FA-CE9F-2C58-5A97-2A3A0CC0602E}"/>
              </a:ext>
            </a:extLst>
          </p:cNvPr>
          <p:cNvSpPr/>
          <p:nvPr/>
        </p:nvSpPr>
        <p:spPr>
          <a:xfrm>
            <a:off x="11014587" y="1803115"/>
            <a:ext cx="1066800" cy="24106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11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A8BB9-3089-5D94-A74D-04BE5D241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F923-9E43-CFF0-1AD2-BA2A6CFA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39" y="-5449"/>
            <a:ext cx="10515600" cy="1325563"/>
          </a:xfrm>
        </p:spPr>
        <p:txBody>
          <a:bodyPr/>
          <a:lstStyle/>
          <a:p>
            <a:r>
              <a:rPr lang="en-GB" dirty="0"/>
              <a:t>Results #2: ASR 10 year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4AFA4-23AC-99E3-52FF-B004CA2D12FD}"/>
              </a:ext>
            </a:extLst>
          </p:cNvPr>
          <p:cNvSpPr txBox="1">
            <a:spLocks/>
          </p:cNvSpPr>
          <p:nvPr/>
        </p:nvSpPr>
        <p:spPr>
          <a:xfrm>
            <a:off x="152554" y="2109685"/>
            <a:ext cx="1805574" cy="3464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baseline="-250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AFD30D7-F0BD-7BE2-3DE5-F5B3A737485A}"/>
              </a:ext>
            </a:extLst>
          </p:cNvPr>
          <p:cNvSpPr txBox="1">
            <a:spLocks/>
          </p:cNvSpPr>
          <p:nvPr/>
        </p:nvSpPr>
        <p:spPr>
          <a:xfrm>
            <a:off x="918104" y="1854601"/>
            <a:ext cx="5656316" cy="11008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accent1"/>
                </a:solidFill>
              </a:rPr>
              <a:t>10.39 Mm</a:t>
            </a:r>
            <a:r>
              <a:rPr lang="en-GB" baseline="30000" dirty="0">
                <a:solidFill>
                  <a:schemeClr val="accent1"/>
                </a:solidFill>
              </a:rPr>
              <a:t>3</a:t>
            </a:r>
            <a:r>
              <a:rPr lang="en-GB" dirty="0">
                <a:solidFill>
                  <a:schemeClr val="accent1"/>
                </a:solidFill>
              </a:rPr>
              <a:t> of ASR water supplied</a:t>
            </a:r>
          </a:p>
          <a:p>
            <a:r>
              <a:rPr lang="en-GB" b="1" dirty="0"/>
              <a:t>2.27% reliability increase</a:t>
            </a:r>
          </a:p>
          <a:p>
            <a:r>
              <a:rPr lang="en-GB" dirty="0">
                <a:solidFill>
                  <a:srgbClr val="C00000"/>
                </a:solidFill>
              </a:rPr>
              <a:t>Max injection reached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EEC484-7965-CF27-87E9-A77116C4CC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9" t="4353" r="32841" b="32557"/>
          <a:stretch>
            <a:fillRect/>
          </a:stretch>
        </p:blipFill>
        <p:spPr>
          <a:xfrm>
            <a:off x="733372" y="2953822"/>
            <a:ext cx="10725256" cy="390255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B778A9-4F6A-F8FD-0DC2-BCC016253A7C}"/>
              </a:ext>
            </a:extLst>
          </p:cNvPr>
          <p:cNvGraphicFramePr>
            <a:graphicFrameLocks noGrp="1"/>
          </p:cNvGraphicFramePr>
          <p:nvPr/>
        </p:nvGraphicFramePr>
        <p:xfrm>
          <a:off x="185784" y="1026823"/>
          <a:ext cx="591021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5108">
                  <a:extLst>
                    <a:ext uri="{9D8B030D-6E8A-4147-A177-3AD203B41FA5}">
                      <a16:colId xmlns:a16="http://schemas.microsoft.com/office/drawing/2014/main" val="623181184"/>
                    </a:ext>
                  </a:extLst>
                </a:gridCol>
                <a:gridCol w="2955108">
                  <a:extLst>
                    <a:ext uri="{9D8B030D-6E8A-4147-A177-3AD203B41FA5}">
                      <a16:colId xmlns:a16="http://schemas.microsoft.com/office/drawing/2014/main" val="1420237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QASRInjectionMax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QASRExtractionMax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8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0.068 m3/s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0.15 m3/s (beginning year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193711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68E99445-D7D6-70BA-755D-5EF2D2B9D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945" y="512449"/>
            <a:ext cx="5344271" cy="1952898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C935FC-2451-F6FB-F93A-0F178B115C96}"/>
              </a:ext>
            </a:extLst>
          </p:cNvPr>
          <p:cNvSpPr/>
          <p:nvPr/>
        </p:nvSpPr>
        <p:spPr>
          <a:xfrm>
            <a:off x="9408941" y="889663"/>
            <a:ext cx="1066800" cy="27432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111AA68-DE8E-FC16-1707-B3199B0B6275}"/>
              </a:ext>
            </a:extLst>
          </p:cNvPr>
          <p:cNvSpPr/>
          <p:nvPr/>
        </p:nvSpPr>
        <p:spPr>
          <a:xfrm>
            <a:off x="9274140" y="1549862"/>
            <a:ext cx="1066800" cy="24106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0A1E0BE-8F7F-3F8D-35B5-D2DE206CC67E}"/>
              </a:ext>
            </a:extLst>
          </p:cNvPr>
          <p:cNvSpPr/>
          <p:nvPr/>
        </p:nvSpPr>
        <p:spPr>
          <a:xfrm>
            <a:off x="8565188" y="3773347"/>
            <a:ext cx="2511784" cy="43940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31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0387D-5EAC-8518-0594-65D9ED89B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738C57C-F913-8EFD-3586-D4F1321F3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" t="3770" r="32903" b="31869"/>
          <a:stretch>
            <a:fillRect/>
          </a:stretch>
        </p:blipFill>
        <p:spPr>
          <a:xfrm>
            <a:off x="519182" y="3172073"/>
            <a:ext cx="11153635" cy="36859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E6F66A-3EC4-24F1-569C-EEB03BE3C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39" y="-5449"/>
            <a:ext cx="10515600" cy="1325563"/>
          </a:xfrm>
        </p:spPr>
        <p:txBody>
          <a:bodyPr/>
          <a:lstStyle/>
          <a:p>
            <a:r>
              <a:rPr lang="en-GB" dirty="0"/>
              <a:t>Results #3: Rising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C743F-DF21-B272-DCA5-5E8E7A1BDF5F}"/>
              </a:ext>
            </a:extLst>
          </p:cNvPr>
          <p:cNvSpPr txBox="1">
            <a:spLocks/>
          </p:cNvSpPr>
          <p:nvPr/>
        </p:nvSpPr>
        <p:spPr>
          <a:xfrm>
            <a:off x="152554" y="2109685"/>
            <a:ext cx="1805574" cy="3464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baseline="-250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B053618-A7FA-C0B3-08BD-601FE9F01E69}"/>
              </a:ext>
            </a:extLst>
          </p:cNvPr>
          <p:cNvSpPr txBox="1">
            <a:spLocks/>
          </p:cNvSpPr>
          <p:nvPr/>
        </p:nvSpPr>
        <p:spPr>
          <a:xfrm>
            <a:off x="345992" y="2109685"/>
            <a:ext cx="2318491" cy="4109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9ABD23-F4FD-C63F-4400-23536CD21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673229"/>
              </p:ext>
            </p:extLst>
          </p:nvPr>
        </p:nvGraphicFramePr>
        <p:xfrm>
          <a:off x="185784" y="1026823"/>
          <a:ext cx="591021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5108">
                  <a:extLst>
                    <a:ext uri="{9D8B030D-6E8A-4147-A177-3AD203B41FA5}">
                      <a16:colId xmlns:a16="http://schemas.microsoft.com/office/drawing/2014/main" val="623181184"/>
                    </a:ext>
                  </a:extLst>
                </a:gridCol>
                <a:gridCol w="2955108">
                  <a:extLst>
                    <a:ext uri="{9D8B030D-6E8A-4147-A177-3AD203B41FA5}">
                      <a16:colId xmlns:a16="http://schemas.microsoft.com/office/drawing/2014/main" val="1420237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QASRInjectionMax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QASRExtractionMax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8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0.00 m</a:t>
                      </a:r>
                      <a:r>
                        <a:rPr lang="en-GB" baseline="30000" dirty="0"/>
                        <a:t>3</a:t>
                      </a:r>
                      <a:r>
                        <a:rPr lang="en-GB" dirty="0"/>
                        <a:t>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 m</a:t>
                      </a:r>
                      <a:r>
                        <a:rPr lang="en-GB" baseline="30000" dirty="0"/>
                        <a:t>3</a:t>
                      </a:r>
                      <a:r>
                        <a:rPr lang="en-GB" dirty="0"/>
                        <a:t>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193711"/>
                  </a:ext>
                </a:extLst>
              </a:tr>
            </a:tbl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68A28F1-2C5C-9B34-AC2D-4553D5958AAB}"/>
              </a:ext>
            </a:extLst>
          </p:cNvPr>
          <p:cNvSpPr txBox="1">
            <a:spLocks/>
          </p:cNvSpPr>
          <p:nvPr/>
        </p:nvSpPr>
        <p:spPr>
          <a:xfrm>
            <a:off x="440813" y="1879601"/>
            <a:ext cx="6376675" cy="13255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accent1"/>
                </a:solidFill>
              </a:rPr>
              <a:t>41%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dirty="0"/>
              <a:t>of weeks have &gt;1% shortage</a:t>
            </a:r>
          </a:p>
          <a:p>
            <a:r>
              <a:rPr lang="en-GB" dirty="0" err="1">
                <a:solidFill>
                  <a:srgbClr val="C00000"/>
                </a:solidFill>
              </a:rPr>
              <a:t>Qtreatment</a:t>
            </a:r>
            <a:r>
              <a:rPr lang="en-GB" dirty="0">
                <a:solidFill>
                  <a:srgbClr val="C00000"/>
                </a:solidFill>
              </a:rPr>
              <a:t> can’t meet rising demand</a:t>
            </a:r>
          </a:p>
          <a:p>
            <a:r>
              <a:rPr lang="en-GB" dirty="0">
                <a:solidFill>
                  <a:schemeClr val="accent5"/>
                </a:solidFill>
              </a:rPr>
              <a:t>Variation in treatment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CE782C0-5637-4089-300C-B6B45A60192C}"/>
              </a:ext>
            </a:extLst>
          </p:cNvPr>
          <p:cNvSpPr/>
          <p:nvPr/>
        </p:nvSpPr>
        <p:spPr>
          <a:xfrm>
            <a:off x="8174463" y="5266481"/>
            <a:ext cx="3229337" cy="75235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3B55CB9-7766-254A-B5DF-E2C33DC97E08}"/>
              </a:ext>
            </a:extLst>
          </p:cNvPr>
          <p:cNvSpPr/>
          <p:nvPr/>
        </p:nvSpPr>
        <p:spPr>
          <a:xfrm>
            <a:off x="2866662" y="5158310"/>
            <a:ext cx="3229337" cy="752353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083AEB-F08B-1ED7-213D-B2A32E2DF3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419" y="159885"/>
            <a:ext cx="4816748" cy="276884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5B27E6-F9E0-9896-6B8F-0A7CE47EE6DD}"/>
              </a:ext>
            </a:extLst>
          </p:cNvPr>
          <p:cNvSpPr/>
          <p:nvPr/>
        </p:nvSpPr>
        <p:spPr>
          <a:xfrm>
            <a:off x="10701348" y="1297254"/>
            <a:ext cx="1066800" cy="27432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0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4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687A4-0939-9E99-D70C-487A18D95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9C1FA5-E156-101A-FF4E-F9EDE3620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539" y="186814"/>
            <a:ext cx="4842525" cy="28176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B31AE7-15FE-4ACB-E50A-91C7DE3894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4" t="4812" r="32984" b="33005"/>
          <a:stretch>
            <a:fillRect/>
          </a:stretch>
        </p:blipFill>
        <p:spPr>
          <a:xfrm>
            <a:off x="594729" y="3316261"/>
            <a:ext cx="11002541" cy="3482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134A64-0875-BA5C-8402-E0B88DC36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39" y="-5449"/>
            <a:ext cx="10515600" cy="1325563"/>
          </a:xfrm>
        </p:spPr>
        <p:txBody>
          <a:bodyPr/>
          <a:lstStyle/>
          <a:p>
            <a:r>
              <a:rPr lang="en-GB" dirty="0"/>
              <a:t>Results #4: ASR rising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30C62-63AB-3BDF-FD6B-A1FDAF0CEC58}"/>
              </a:ext>
            </a:extLst>
          </p:cNvPr>
          <p:cNvSpPr txBox="1">
            <a:spLocks/>
          </p:cNvSpPr>
          <p:nvPr/>
        </p:nvSpPr>
        <p:spPr>
          <a:xfrm>
            <a:off x="152554" y="2109685"/>
            <a:ext cx="1805574" cy="3464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baseline="-250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3915B0C-AEDE-C732-0763-70B4D9F6A90B}"/>
              </a:ext>
            </a:extLst>
          </p:cNvPr>
          <p:cNvSpPr txBox="1">
            <a:spLocks/>
          </p:cNvSpPr>
          <p:nvPr/>
        </p:nvSpPr>
        <p:spPr>
          <a:xfrm>
            <a:off x="345992" y="2109685"/>
            <a:ext cx="2318491" cy="4109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426850-1185-9680-EA14-4CB92ACE5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296528"/>
              </p:ext>
            </p:extLst>
          </p:nvPr>
        </p:nvGraphicFramePr>
        <p:xfrm>
          <a:off x="185784" y="1026823"/>
          <a:ext cx="591021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5108">
                  <a:extLst>
                    <a:ext uri="{9D8B030D-6E8A-4147-A177-3AD203B41FA5}">
                      <a16:colId xmlns:a16="http://schemas.microsoft.com/office/drawing/2014/main" val="623181184"/>
                    </a:ext>
                  </a:extLst>
                </a:gridCol>
                <a:gridCol w="2955108">
                  <a:extLst>
                    <a:ext uri="{9D8B030D-6E8A-4147-A177-3AD203B41FA5}">
                      <a16:colId xmlns:a16="http://schemas.microsoft.com/office/drawing/2014/main" val="1420237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QASRInjectionMax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QASRExtractionMax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80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0.068 m</a:t>
                      </a:r>
                      <a:r>
                        <a:rPr lang="en-GB" baseline="30000" dirty="0"/>
                        <a:t>3</a:t>
                      </a:r>
                      <a:r>
                        <a:rPr lang="en-GB" dirty="0"/>
                        <a:t>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0.15 m</a:t>
                      </a:r>
                      <a:r>
                        <a:rPr lang="en-GB" baseline="30000" dirty="0"/>
                        <a:t>3</a:t>
                      </a:r>
                      <a:r>
                        <a:rPr lang="en-GB" dirty="0"/>
                        <a:t>/s (beginning year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193711"/>
                  </a:ext>
                </a:extLst>
              </a:tr>
            </a:tbl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3FF09AE-75AD-B010-9481-DD727FAF658D}"/>
              </a:ext>
            </a:extLst>
          </p:cNvPr>
          <p:cNvSpPr txBox="1">
            <a:spLocks/>
          </p:cNvSpPr>
          <p:nvPr/>
        </p:nvSpPr>
        <p:spPr>
          <a:xfrm>
            <a:off x="440813" y="1879601"/>
            <a:ext cx="6376675" cy="13255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accent1"/>
                </a:solidFill>
              </a:rPr>
              <a:t>7Mm</a:t>
            </a:r>
            <a:r>
              <a:rPr lang="en-GB" baseline="30000" dirty="0">
                <a:solidFill>
                  <a:schemeClr val="accent1"/>
                </a:solidFill>
              </a:rPr>
              <a:t>3</a:t>
            </a:r>
            <a:r>
              <a:rPr lang="en-GB" dirty="0"/>
              <a:t> ASR water, shortage weeks reduced to </a:t>
            </a:r>
            <a:r>
              <a:rPr lang="en-GB" dirty="0">
                <a:solidFill>
                  <a:schemeClr val="accent1"/>
                </a:solidFill>
              </a:rPr>
              <a:t>0%</a:t>
            </a:r>
          </a:p>
          <a:p>
            <a:r>
              <a:rPr lang="en-GB" dirty="0"/>
              <a:t>888,000 m</a:t>
            </a:r>
            <a:r>
              <a:rPr lang="en-GB" baseline="30000" dirty="0"/>
              <a:t>3</a:t>
            </a:r>
            <a:r>
              <a:rPr lang="en-GB" dirty="0"/>
              <a:t> of ASR extracted per cycle </a:t>
            </a:r>
            <a:r>
              <a:rPr lang="en-GB" b="1" dirty="0">
                <a:sym typeface="Wingdings" panose="05000000000000000000" pitchFamily="2" charset="2"/>
              </a:rPr>
              <a:t> </a:t>
            </a:r>
            <a:r>
              <a:rPr lang="en-GB" dirty="0">
                <a:sym typeface="Wingdings" panose="05000000000000000000" pitchFamily="2" charset="2"/>
              </a:rPr>
              <a:t>water for an </a:t>
            </a:r>
            <a:r>
              <a:rPr lang="en-GB" b="1" dirty="0">
                <a:sym typeface="Wingdings" panose="05000000000000000000" pitchFamily="2" charset="2"/>
              </a:rPr>
              <a:t>additional 78,000 people per cycle</a:t>
            </a:r>
          </a:p>
          <a:p>
            <a:r>
              <a:rPr lang="en-GB" dirty="0">
                <a:solidFill>
                  <a:schemeClr val="accent5"/>
                </a:solidFill>
                <a:sym typeface="Wingdings" panose="05000000000000000000" pitchFamily="2" charset="2"/>
              </a:rPr>
              <a:t>Treatment flow variation reduced</a:t>
            </a:r>
            <a:endParaRPr lang="en-GB" dirty="0">
              <a:solidFill>
                <a:schemeClr val="accent5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6AA1751-D33D-70BA-9A7C-985D1F310BF0}"/>
              </a:ext>
            </a:extLst>
          </p:cNvPr>
          <p:cNvSpPr/>
          <p:nvPr/>
        </p:nvSpPr>
        <p:spPr>
          <a:xfrm>
            <a:off x="10805602" y="2329902"/>
            <a:ext cx="1233844" cy="19490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5EFDB7-BA62-1442-1B31-98A29C508C51}"/>
              </a:ext>
            </a:extLst>
          </p:cNvPr>
          <p:cNvSpPr/>
          <p:nvPr/>
        </p:nvSpPr>
        <p:spPr>
          <a:xfrm>
            <a:off x="10881401" y="1366164"/>
            <a:ext cx="1066800" cy="194905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2AE57E-70D9-02DC-6AF9-F96CCC6131BB}"/>
              </a:ext>
            </a:extLst>
          </p:cNvPr>
          <p:cNvSpPr/>
          <p:nvPr/>
        </p:nvSpPr>
        <p:spPr>
          <a:xfrm>
            <a:off x="9814601" y="597333"/>
            <a:ext cx="1066800" cy="194905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5F0D2E-756E-F502-28D6-362B385F28F0}"/>
              </a:ext>
            </a:extLst>
          </p:cNvPr>
          <p:cNvSpPr/>
          <p:nvPr/>
        </p:nvSpPr>
        <p:spPr>
          <a:xfrm>
            <a:off x="2992984" y="5206319"/>
            <a:ext cx="2737256" cy="367496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63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8" grpId="0" animBg="1"/>
      <p:bldP spid="9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900A6-86EA-5670-4F50-374B0B46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8ED0-BCA4-8444-E8D6-2C74A42CC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6600" dirty="0">
                <a:solidFill>
                  <a:schemeClr val="accent1"/>
                </a:solidFill>
              </a:rPr>
              <a:t>HOW VITENS CAN USE THIS MODEL</a:t>
            </a:r>
          </a:p>
        </p:txBody>
      </p:sp>
    </p:spTree>
    <p:extLst>
      <p:ext uri="{BB962C8B-B14F-4D97-AF65-F5344CB8AC3E}">
        <p14:creationId xmlns:p14="http://schemas.microsoft.com/office/powerpoint/2010/main" val="671161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22E10-2997-FB0B-93AA-F52E0190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F2671-F9F0-8787-93BA-3F6577F8C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Strategic Heart model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BF939-66BF-E1C3-1A8E-B0E980C02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6663" y="4620577"/>
            <a:ext cx="2998673" cy="2044383"/>
          </a:xfrm>
          <a:solidFill>
            <a:schemeClr val="accent3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accent3"/>
                </a:solidFill>
              </a:rPr>
              <a:t>Strategic Heart model meets </a:t>
            </a:r>
            <a:r>
              <a:rPr lang="en-GB" dirty="0" err="1">
                <a:solidFill>
                  <a:schemeClr val="accent3"/>
                </a:solidFill>
              </a:rPr>
              <a:t>Vitens</a:t>
            </a:r>
            <a:r>
              <a:rPr lang="en-GB" dirty="0">
                <a:solidFill>
                  <a:schemeClr val="accent3"/>
                </a:solidFill>
              </a:rPr>
              <a:t>’ goal of </a:t>
            </a:r>
            <a:r>
              <a:rPr lang="en-GB" b="1" dirty="0">
                <a:solidFill>
                  <a:schemeClr val="accent3"/>
                </a:solidFill>
              </a:rPr>
              <a:t>absorbing peak demands with ASR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B1DFB1-9521-619D-4DBE-7B3973CEEC7F}"/>
              </a:ext>
            </a:extLst>
          </p:cNvPr>
          <p:cNvSpPr txBox="1">
            <a:spLocks/>
          </p:cNvSpPr>
          <p:nvPr/>
        </p:nvSpPr>
        <p:spPr>
          <a:xfrm>
            <a:off x="6993657" y="2141537"/>
            <a:ext cx="2759943" cy="22153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Demonstrates </a:t>
            </a:r>
            <a:r>
              <a:rPr lang="en-GB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operating policy 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for river intake, treatment plant, and ASR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A630132-8932-C22C-8591-CED9ABB34458}"/>
              </a:ext>
            </a:extLst>
          </p:cNvPr>
          <p:cNvSpPr txBox="1">
            <a:spLocks/>
          </p:cNvSpPr>
          <p:nvPr/>
        </p:nvSpPr>
        <p:spPr>
          <a:xfrm>
            <a:off x="2340108" y="2127225"/>
            <a:ext cx="2858236" cy="2215310"/>
          </a:xfrm>
          <a:prstGeom prst="rect">
            <a:avLst/>
          </a:prstGeom>
          <a:solidFill>
            <a:srgbClr val="FFE164"/>
          </a:solidFill>
          <a:ln>
            <a:solidFill>
              <a:schemeClr val="accent3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rgbClr val="858500"/>
                </a:solidFill>
              </a:rPr>
              <a:t>Establishes </a:t>
            </a:r>
            <a:r>
              <a:rPr lang="en-GB" b="1" dirty="0">
                <a:solidFill>
                  <a:srgbClr val="858500"/>
                </a:solidFill>
              </a:rPr>
              <a:t>reliability parameters</a:t>
            </a:r>
            <a:r>
              <a:rPr lang="en-GB" dirty="0">
                <a:solidFill>
                  <a:srgbClr val="858500"/>
                </a:solidFill>
              </a:rPr>
              <a:t> for evaluation of ASR system</a:t>
            </a:r>
          </a:p>
        </p:txBody>
      </p:sp>
      <p:sp>
        <p:nvSpPr>
          <p:cNvPr id="6" name="Call-out: Left Arrow 5">
            <a:extLst>
              <a:ext uri="{FF2B5EF4-FFF2-40B4-BE49-F238E27FC236}">
                <a16:creationId xmlns:a16="http://schemas.microsoft.com/office/drawing/2014/main" id="{8B8E89C4-D64D-6EE1-DB57-DBFE4F5E5395}"/>
              </a:ext>
            </a:extLst>
          </p:cNvPr>
          <p:cNvSpPr/>
          <p:nvPr/>
        </p:nvSpPr>
        <p:spPr>
          <a:xfrm rot="16200000">
            <a:off x="5500212" y="3210015"/>
            <a:ext cx="1191577" cy="1365816"/>
          </a:xfrm>
          <a:prstGeom prst="leftArrowCallout">
            <a:avLst>
              <a:gd name="adj1" fmla="val 11401"/>
              <a:gd name="adj2" fmla="val 19172"/>
              <a:gd name="adj3" fmla="val 25000"/>
              <a:gd name="adj4" fmla="val 12523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42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animBg="1"/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1750D-B4FE-0199-B20A-86FC8A9DC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98AB-36B5-9968-41D6-9646F51617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6600" dirty="0">
                <a:solidFill>
                  <a:schemeClr val="accent1"/>
                </a:solidFill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19521137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3581B-3A39-CA9D-24A9-63D79D3C0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221"/>
            <a:ext cx="10515600" cy="1325563"/>
          </a:xfrm>
        </p:spPr>
        <p:txBody>
          <a:bodyPr/>
          <a:lstStyle/>
          <a:p>
            <a:r>
              <a:rPr lang="en-GB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ED706-44A5-9303-CA05-1849EF977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5" y="1473020"/>
            <a:ext cx="2797561" cy="2575694"/>
          </a:xfr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Adjust model </a:t>
            </a:r>
            <a:r>
              <a:rPr lang="en-GB" dirty="0"/>
              <a:t>for </a:t>
            </a:r>
            <a:r>
              <a:rPr lang="en-GB" dirty="0" err="1"/>
              <a:t>Vitens</a:t>
            </a:r>
            <a:r>
              <a:rPr lang="en-GB" dirty="0"/>
              <a:t>’ needs</a:t>
            </a:r>
          </a:p>
          <a:p>
            <a:r>
              <a:rPr lang="en-GB" dirty="0"/>
              <a:t>System functionalities</a:t>
            </a:r>
          </a:p>
          <a:p>
            <a:r>
              <a:rPr lang="en-GB" dirty="0"/>
              <a:t>Real demand/pop. figures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12B42B7-6B23-829E-8DB5-278913A6C915}"/>
              </a:ext>
            </a:extLst>
          </p:cNvPr>
          <p:cNvSpPr txBox="1">
            <a:spLocks/>
          </p:cNvSpPr>
          <p:nvPr/>
        </p:nvSpPr>
        <p:spPr>
          <a:xfrm>
            <a:off x="4481475" y="1755661"/>
            <a:ext cx="2969559" cy="22930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600" dirty="0"/>
              <a:t>Investigate </a:t>
            </a:r>
            <a:r>
              <a:rPr lang="en-GB" sz="2600" b="1" dirty="0"/>
              <a:t>injection &amp; extraction </a:t>
            </a:r>
            <a:r>
              <a:rPr lang="en-GB" sz="2600" dirty="0"/>
              <a:t>capacities, explore hourly/temperature model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62F091-EAA0-D08E-5932-B248ABEB7693}"/>
              </a:ext>
            </a:extLst>
          </p:cNvPr>
          <p:cNvSpPr txBox="1">
            <a:spLocks/>
          </p:cNvSpPr>
          <p:nvPr/>
        </p:nvSpPr>
        <p:spPr>
          <a:xfrm>
            <a:off x="8576266" y="2083443"/>
            <a:ext cx="2969559" cy="196527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600" b="1" dirty="0"/>
              <a:t>Cost-benefit analysis </a:t>
            </a:r>
            <a:r>
              <a:rPr lang="en-GB" sz="2600" dirty="0"/>
              <a:t>of additional water from ASR system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2058FBE-3C9F-E71D-D27D-602419648905}"/>
              </a:ext>
            </a:extLst>
          </p:cNvPr>
          <p:cNvSpPr/>
          <p:nvPr/>
        </p:nvSpPr>
        <p:spPr>
          <a:xfrm>
            <a:off x="3627052" y="2617432"/>
            <a:ext cx="790297" cy="286870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B7CC0B9-D621-17C5-60B0-F4A31D667F4B}"/>
              </a:ext>
            </a:extLst>
          </p:cNvPr>
          <p:cNvSpPr txBox="1">
            <a:spLocks/>
          </p:cNvSpPr>
          <p:nvPr/>
        </p:nvSpPr>
        <p:spPr>
          <a:xfrm>
            <a:off x="3431086" y="4740939"/>
            <a:ext cx="4161905" cy="178954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dirty="0">
                <a:solidFill>
                  <a:schemeClr val="bg1"/>
                </a:solidFill>
              </a:rPr>
              <a:t>Use model to make informed decision on </a:t>
            </a:r>
            <a:r>
              <a:rPr lang="en-GB" b="1" dirty="0">
                <a:solidFill>
                  <a:schemeClr val="bg1"/>
                </a:solidFill>
              </a:rPr>
              <a:t>Strategic Heart project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454273E-0278-C0CF-38A3-3EB106BACBE7}"/>
              </a:ext>
            </a:extLst>
          </p:cNvPr>
          <p:cNvSpPr/>
          <p:nvPr/>
        </p:nvSpPr>
        <p:spPr>
          <a:xfrm>
            <a:off x="7710526" y="2714636"/>
            <a:ext cx="767533" cy="330299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Bent 19">
            <a:extLst>
              <a:ext uri="{FF2B5EF4-FFF2-40B4-BE49-F238E27FC236}">
                <a16:creationId xmlns:a16="http://schemas.microsoft.com/office/drawing/2014/main" id="{D8C7CFB6-05EC-913C-761F-9A42ABF7CADA}"/>
              </a:ext>
            </a:extLst>
          </p:cNvPr>
          <p:cNvSpPr/>
          <p:nvPr/>
        </p:nvSpPr>
        <p:spPr>
          <a:xfrm rot="10800000">
            <a:off x="8090940" y="4441672"/>
            <a:ext cx="2471605" cy="1554014"/>
          </a:xfrm>
          <a:prstGeom prst="bentArrow">
            <a:avLst>
              <a:gd name="adj1" fmla="val 10346"/>
              <a:gd name="adj2" fmla="val 15538"/>
              <a:gd name="adj3" fmla="val 25000"/>
              <a:gd name="adj4" fmla="val 43750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0A936F5A-C744-1B60-3287-B1B3AB003519}"/>
              </a:ext>
            </a:extLst>
          </p:cNvPr>
          <p:cNvSpPr/>
          <p:nvPr/>
        </p:nvSpPr>
        <p:spPr>
          <a:xfrm>
            <a:off x="3090708" y="4397431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8FCC65BC-8457-B87B-B6F5-D6EE0F6C8068}"/>
              </a:ext>
            </a:extLst>
          </p:cNvPr>
          <p:cNvSpPr/>
          <p:nvPr/>
        </p:nvSpPr>
        <p:spPr>
          <a:xfrm>
            <a:off x="7244673" y="6183981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AB14A02E-D6F3-12AE-8052-A4EC6A56977C}"/>
              </a:ext>
            </a:extLst>
          </p:cNvPr>
          <p:cNvSpPr/>
          <p:nvPr/>
        </p:nvSpPr>
        <p:spPr>
          <a:xfrm>
            <a:off x="7239963" y="4395320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48A0DF36-B3EC-B52D-A817-5920B0A14D63}"/>
              </a:ext>
            </a:extLst>
          </p:cNvPr>
          <p:cNvSpPr/>
          <p:nvPr/>
        </p:nvSpPr>
        <p:spPr>
          <a:xfrm>
            <a:off x="3115514" y="6191082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E29E7154-3055-873D-FBD2-9F719C951FC6}"/>
              </a:ext>
            </a:extLst>
          </p:cNvPr>
          <p:cNvSpPr/>
          <p:nvPr/>
        </p:nvSpPr>
        <p:spPr>
          <a:xfrm>
            <a:off x="3939105" y="6183921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69FC9727-DFFA-DE57-F3A1-3B7DBDE545A4}"/>
              </a:ext>
            </a:extLst>
          </p:cNvPr>
          <p:cNvSpPr/>
          <p:nvPr/>
        </p:nvSpPr>
        <p:spPr>
          <a:xfrm>
            <a:off x="4762248" y="6191082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F50B5D29-791E-45BD-F6CB-F268BE6AD415}"/>
              </a:ext>
            </a:extLst>
          </p:cNvPr>
          <p:cNvSpPr/>
          <p:nvPr/>
        </p:nvSpPr>
        <p:spPr>
          <a:xfrm>
            <a:off x="5613226" y="6183921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44B14285-B8E0-F0FA-CD5D-3F6BA43AAFD5}"/>
              </a:ext>
            </a:extLst>
          </p:cNvPr>
          <p:cNvSpPr/>
          <p:nvPr/>
        </p:nvSpPr>
        <p:spPr>
          <a:xfrm>
            <a:off x="6464204" y="6183921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39D4C674-8603-A784-AC73-34242BE2A7AF}"/>
              </a:ext>
            </a:extLst>
          </p:cNvPr>
          <p:cNvSpPr/>
          <p:nvPr/>
        </p:nvSpPr>
        <p:spPr>
          <a:xfrm>
            <a:off x="3090708" y="5603872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Star: 5 Points 29">
            <a:extLst>
              <a:ext uri="{FF2B5EF4-FFF2-40B4-BE49-F238E27FC236}">
                <a16:creationId xmlns:a16="http://schemas.microsoft.com/office/drawing/2014/main" id="{71A8BC5D-F12B-ADE6-0683-23A3A79C95FF}"/>
              </a:ext>
            </a:extLst>
          </p:cNvPr>
          <p:cNvSpPr/>
          <p:nvPr/>
        </p:nvSpPr>
        <p:spPr>
          <a:xfrm>
            <a:off x="3103111" y="5007791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C8FF9973-CB83-CE6D-2972-24312E43CDD6}"/>
              </a:ext>
            </a:extLst>
          </p:cNvPr>
          <p:cNvSpPr/>
          <p:nvPr/>
        </p:nvSpPr>
        <p:spPr>
          <a:xfrm>
            <a:off x="3891273" y="4394333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Star: 5 Points 33">
            <a:extLst>
              <a:ext uri="{FF2B5EF4-FFF2-40B4-BE49-F238E27FC236}">
                <a16:creationId xmlns:a16="http://schemas.microsoft.com/office/drawing/2014/main" id="{13FC7A41-A8F0-5CC3-54F1-5D56A5267ABB}"/>
              </a:ext>
            </a:extLst>
          </p:cNvPr>
          <p:cNvSpPr/>
          <p:nvPr/>
        </p:nvSpPr>
        <p:spPr>
          <a:xfrm>
            <a:off x="4714416" y="4401494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Star: 5 Points 35">
            <a:extLst>
              <a:ext uri="{FF2B5EF4-FFF2-40B4-BE49-F238E27FC236}">
                <a16:creationId xmlns:a16="http://schemas.microsoft.com/office/drawing/2014/main" id="{F2F3852F-AE7A-778C-2276-8C1B21B22F5D}"/>
              </a:ext>
            </a:extLst>
          </p:cNvPr>
          <p:cNvSpPr/>
          <p:nvPr/>
        </p:nvSpPr>
        <p:spPr>
          <a:xfrm>
            <a:off x="5565394" y="4394333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1FA76773-7567-4D75-23E3-E69EDB3A9448}"/>
              </a:ext>
            </a:extLst>
          </p:cNvPr>
          <p:cNvSpPr/>
          <p:nvPr/>
        </p:nvSpPr>
        <p:spPr>
          <a:xfrm>
            <a:off x="6416372" y="4394333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7F562F1C-9AC1-54B8-4389-32301DED5012}"/>
              </a:ext>
            </a:extLst>
          </p:cNvPr>
          <p:cNvSpPr/>
          <p:nvPr/>
        </p:nvSpPr>
        <p:spPr>
          <a:xfrm>
            <a:off x="7249909" y="5615387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F1A7D921-D53D-161D-E5F0-3A40905DDEF5}"/>
              </a:ext>
            </a:extLst>
          </p:cNvPr>
          <p:cNvSpPr/>
          <p:nvPr/>
        </p:nvSpPr>
        <p:spPr>
          <a:xfrm>
            <a:off x="7262312" y="5019306"/>
            <a:ext cx="706056" cy="636608"/>
          </a:xfrm>
          <a:prstGeom prst="star5">
            <a:avLst/>
          </a:prstGeom>
          <a:solidFill>
            <a:srgbClr val="FFE1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53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4" grpId="0" animBg="1"/>
      <p:bldP spid="5" grpId="0" animBg="1"/>
      <p:bldP spid="7" grpId="0" animBg="1"/>
      <p:bldP spid="17" grpId="0" animBg="1"/>
      <p:bldP spid="19" grpId="0" animBg="1"/>
      <p:bldP spid="20" grpId="0" animBg="1"/>
      <p:bldP spid="8" grpId="0" animBg="1"/>
      <p:bldP spid="10" grpId="0" animBg="1"/>
      <p:bldP spid="13" grpId="0" animBg="1"/>
      <p:bldP spid="15" grpId="0" animBg="1"/>
      <p:bldP spid="18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EEE5-4BC7-2A32-EC9A-88CB4893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7E1A-CBCE-46A7-9024-54CD30CA6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221"/>
            <a:ext cx="5593080" cy="1608979"/>
          </a:xfrm>
        </p:spPr>
        <p:txBody>
          <a:bodyPr/>
          <a:lstStyle/>
          <a:p>
            <a:r>
              <a:rPr lang="en-GB" dirty="0"/>
              <a:t>What I learned during this internship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4181A486-1729-FF81-644D-318F931DF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59" y="1872504"/>
            <a:ext cx="5207001" cy="4867275"/>
          </a:xfrm>
        </p:spPr>
        <p:txBody>
          <a:bodyPr>
            <a:normAutofit/>
          </a:bodyPr>
          <a:lstStyle/>
          <a:p>
            <a:pPr lvl="1"/>
            <a:r>
              <a:rPr lang="en-GB" dirty="0"/>
              <a:t>Enhanced python coding skills</a:t>
            </a:r>
          </a:p>
          <a:p>
            <a:pPr lvl="1"/>
            <a:r>
              <a:rPr lang="en-GB" dirty="0"/>
              <a:t>Learned new software: </a:t>
            </a:r>
            <a:r>
              <a:rPr lang="en-GB" i="1" dirty="0" err="1"/>
              <a:t>Modelica</a:t>
            </a:r>
            <a:r>
              <a:rPr lang="en-GB" i="1" dirty="0"/>
              <a:t> Connection Editor</a:t>
            </a:r>
          </a:p>
          <a:p>
            <a:pPr lvl="1"/>
            <a:r>
              <a:rPr lang="en-GB" dirty="0"/>
              <a:t>Investigated ASR system design and capabilities</a:t>
            </a:r>
          </a:p>
          <a:p>
            <a:pPr lvl="1"/>
            <a:r>
              <a:rPr lang="en-GB" dirty="0"/>
              <a:t>Increased understanding of optimization </a:t>
            </a:r>
            <a:r>
              <a:rPr lang="en-GB" dirty="0">
                <a:sym typeface="Wingdings" panose="05000000000000000000" pitchFamily="2" charset="2"/>
              </a:rPr>
              <a:t> many </a:t>
            </a:r>
            <a:r>
              <a:rPr lang="en-GB" dirty="0" err="1">
                <a:sym typeface="Wingdings" panose="05000000000000000000" pitchFamily="2" charset="2"/>
              </a:rPr>
              <a:t>many</a:t>
            </a:r>
            <a:r>
              <a:rPr lang="en-GB" dirty="0">
                <a:sym typeface="Wingdings" panose="05000000000000000000" pitchFamily="2" charset="2"/>
              </a:rPr>
              <a:t> test runs…</a:t>
            </a:r>
            <a:endParaRPr lang="en-GB" dirty="0"/>
          </a:p>
          <a:p>
            <a:pPr lvl="1"/>
            <a:r>
              <a:rPr lang="en-GB" dirty="0"/>
              <a:t>Built connections with RTC-Tools team in Delft and Groundwater Security Department in Utrecht</a:t>
            </a:r>
          </a:p>
          <a:p>
            <a:pPr lvl="1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Tour of </a:t>
            </a:r>
            <a:r>
              <a:rPr lang="en-GB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Deltares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b="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F3888F7-C5BA-00B1-1314-F172B60D3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35" y="12016"/>
            <a:ext cx="4896465" cy="684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6746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D63C-8432-3C12-67C4-EE2BA6959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963CA-A6C5-2F18-DAE3-4CA41505D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9564" y="1595062"/>
            <a:ext cx="7010399" cy="3464675"/>
          </a:xfrm>
        </p:spPr>
        <p:txBody>
          <a:bodyPr>
            <a:normAutofit/>
          </a:bodyPr>
          <a:lstStyle/>
          <a:p>
            <a:r>
              <a:rPr lang="en-GB" sz="6600" dirty="0">
                <a:solidFill>
                  <a:schemeClr val="accent1"/>
                </a:solidFill>
              </a:rPr>
              <a:t>THANK YOU BERNHARD AND MARTA</a:t>
            </a:r>
          </a:p>
        </p:txBody>
      </p:sp>
    </p:spTree>
    <p:extLst>
      <p:ext uri="{BB962C8B-B14F-4D97-AF65-F5344CB8AC3E}">
        <p14:creationId xmlns:p14="http://schemas.microsoft.com/office/powerpoint/2010/main" val="4178265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27198</TotalTime>
  <Words>1135</Words>
  <Application>Microsoft Office PowerPoint</Application>
  <PresentationFormat>Widescreen</PresentationFormat>
  <Paragraphs>271</Paragraphs>
  <Slides>29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Wingdings</vt:lpstr>
      <vt:lpstr>Office Theme</vt:lpstr>
      <vt:lpstr>GroundwatCh Internship Presentation</vt:lpstr>
      <vt:lpstr>Internship task</vt:lpstr>
      <vt:lpstr>WHAT IS RTC-TOOLS?</vt:lpstr>
      <vt:lpstr>RTC-Tools</vt:lpstr>
      <vt:lpstr>HOW DOES RTC TOOLS WORK?</vt:lpstr>
      <vt:lpstr>RTC Tools workflow</vt:lpstr>
      <vt:lpstr>STUDY AREA</vt:lpstr>
      <vt:lpstr>Strategic Heart study area</vt:lpstr>
      <vt:lpstr>CLAY LAYERS AND AQUIFERS</vt:lpstr>
      <vt:lpstr>Waalre Formation, third clayey unit</vt:lpstr>
      <vt:lpstr>Kreftenheye Formation, Twello Member, first clayey unit</vt:lpstr>
      <vt:lpstr>AQUIFERS</vt:lpstr>
      <vt:lpstr>Maasluis Formation Principal aquifer underlying Waalre</vt:lpstr>
      <vt:lpstr>Oosterhout Formation Principal aquifer underlying Twello</vt:lpstr>
      <vt:lpstr>MODEL</vt:lpstr>
      <vt:lpstr>Modelica file</vt:lpstr>
      <vt:lpstr>Goal table structure</vt:lpstr>
      <vt:lpstr>RESULTS</vt:lpstr>
      <vt:lpstr>Available results for analysis</vt:lpstr>
      <vt:lpstr>Results #1: 10 yr baseline</vt:lpstr>
      <vt:lpstr>Results #2: ASR 10 year</vt:lpstr>
      <vt:lpstr>Results #3: Rising demand</vt:lpstr>
      <vt:lpstr>Results #4: ASR rising demand</vt:lpstr>
      <vt:lpstr>HOW VITENS CAN USE THIS MODEL</vt:lpstr>
      <vt:lpstr>Strategic Heart model applications</vt:lpstr>
      <vt:lpstr>NEXT STEPS</vt:lpstr>
      <vt:lpstr>Next steps</vt:lpstr>
      <vt:lpstr>What I learned during this internship</vt:lpstr>
      <vt:lpstr>THANK YOU BERNHARD AND MARTA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Walker</dc:creator>
  <cp:lastModifiedBy>Jack Walker</cp:lastModifiedBy>
  <cp:revision>4</cp:revision>
  <dcterms:created xsi:type="dcterms:W3CDTF">2026-06-16T14:57:41Z</dcterms:created>
  <dcterms:modified xsi:type="dcterms:W3CDTF">2026-09-01T05:29:49Z</dcterms:modified>
</cp:coreProperties>
</file>